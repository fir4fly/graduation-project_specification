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1" r:id="rId1"/>
  </p:sldMasterIdLst>
  <p:notesMasterIdLst>
    <p:notesMasterId r:id="rId17"/>
  </p:notesMasterIdLst>
  <p:sldIdLst>
    <p:sldId id="256" r:id="rId2"/>
    <p:sldId id="257" r:id="rId3"/>
    <p:sldId id="260" r:id="rId4"/>
    <p:sldId id="258" r:id="rId5"/>
    <p:sldId id="261" r:id="rId6"/>
    <p:sldId id="259" r:id="rId7"/>
    <p:sldId id="262" r:id="rId8"/>
    <p:sldId id="264" r:id="rId9"/>
    <p:sldId id="265" r:id="rId10"/>
    <p:sldId id="266" r:id="rId11"/>
    <p:sldId id="267" r:id="rId12"/>
    <p:sldId id="268" r:id="rId13"/>
    <p:sldId id="269" r:id="rId14"/>
    <p:sldId id="263" r:id="rId15"/>
    <p:sldId id="270"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66"/>
    <a:srgbClr val="FE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565" autoAdjust="0"/>
  </p:normalViewPr>
  <p:slideViewPr>
    <p:cSldViewPr snapToGrid="0">
      <p:cViewPr varScale="1">
        <p:scale>
          <a:sx n="72" d="100"/>
          <a:sy n="72" d="100"/>
        </p:scale>
        <p:origin x="52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B41E0E2-D515-4273-ACE1-17880E9112E3}" type="datetimeFigureOut">
              <a:rPr kumimoji="1" lang="ja-JP" altLang="en-US" smtClean="0"/>
              <a:t>2026/2/6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207939-B40B-4981-87FA-F83DEAEBAF4F}" type="slidenum">
              <a:rPr kumimoji="1" lang="ja-JP" altLang="en-US" smtClean="0"/>
              <a:t>‹#›</a:t>
            </a:fld>
            <a:endParaRPr kumimoji="1" lang="ja-JP" altLang="en-US"/>
          </a:p>
        </p:txBody>
      </p:sp>
    </p:spTree>
    <p:extLst>
      <p:ext uri="{BB962C8B-B14F-4D97-AF65-F5344CB8AC3E}">
        <p14:creationId xmlns:p14="http://schemas.microsoft.com/office/powerpoint/2010/main" val="102171754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情報技術科</a:t>
            </a:r>
            <a:r>
              <a:rPr kumimoji="1" lang="en-US" altLang="ja-JP" dirty="0"/>
              <a:t>2</a:t>
            </a:r>
            <a:r>
              <a:rPr kumimoji="1" lang="ja-JP" altLang="en-US" dirty="0"/>
              <a:t>年の藁科光です。</a:t>
            </a:r>
            <a:endParaRPr kumimoji="1" lang="en-US" altLang="ja-JP" dirty="0"/>
          </a:p>
          <a:p>
            <a:r>
              <a:rPr kumimoji="1" lang="ja-JP" altLang="en-US" dirty="0"/>
              <a:t>今から、メダル制のゲームサイト、</a:t>
            </a:r>
            <a:r>
              <a:rPr kumimoji="1" lang="en-US" altLang="ja-JP" dirty="0" err="1"/>
              <a:t>ScotMedalPark</a:t>
            </a:r>
            <a:r>
              <a:rPr kumimoji="1" lang="ja-JP" altLang="en-US" dirty="0"/>
              <a:t>の発表を始めたいと思います。よろしくお願いします。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a:t>
            </a:fld>
            <a:endParaRPr kumimoji="1" lang="ja-JP" altLang="en-US"/>
          </a:p>
        </p:txBody>
      </p:sp>
    </p:spTree>
    <p:extLst>
      <p:ext uri="{BB962C8B-B14F-4D97-AF65-F5344CB8AC3E}">
        <p14:creationId xmlns:p14="http://schemas.microsoft.com/office/powerpoint/2010/main" val="1107962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目次です。</a:t>
            </a:r>
            <a:endParaRPr kumimoji="1" lang="en-US" altLang="ja-JP" dirty="0"/>
          </a:p>
          <a:p>
            <a:r>
              <a:rPr kumimoji="1" lang="ja-JP" altLang="en-US" dirty="0"/>
              <a:t>今回はこの５つの項目で発表を進めていきたいと思います。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2</a:t>
            </a:fld>
            <a:endParaRPr kumimoji="1" lang="ja-JP" altLang="en-US"/>
          </a:p>
        </p:txBody>
      </p:sp>
    </p:spTree>
    <p:extLst>
      <p:ext uri="{BB962C8B-B14F-4D97-AF65-F5344CB8AC3E}">
        <p14:creationId xmlns:p14="http://schemas.microsoft.com/office/powerpoint/2010/main" val="3317319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最初に背景・目的です</a:t>
            </a:r>
            <a:endParaRPr kumimoji="1" lang="en-US" altLang="ja-JP"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3</a:t>
            </a:fld>
            <a:endParaRPr kumimoji="1" lang="ja-JP" altLang="en-US"/>
          </a:p>
        </p:txBody>
      </p:sp>
    </p:spTree>
    <p:extLst>
      <p:ext uri="{BB962C8B-B14F-4D97-AF65-F5344CB8AC3E}">
        <p14:creationId xmlns:p14="http://schemas.microsoft.com/office/powerpoint/2010/main" val="23964712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趣味であるゲームに関係するものを作成しようと考えた時、メダルをいくつ集めれるかや、スコアを競うゲームサイトはよくありますが、集めたメダルを使って交換ができるようなサイトはあまりないなと感じ、このサイトを作成しました。</a:t>
            </a:r>
            <a:endParaRPr kumimoji="1" lang="en-US" altLang="ja-JP" dirty="0"/>
          </a:p>
          <a:p>
            <a:r>
              <a:rPr kumimoji="1" lang="ja-JP" altLang="en-US" dirty="0"/>
              <a:t>次に目的です。</a:t>
            </a:r>
            <a:endParaRPr kumimoji="1" lang="en-US" altLang="ja-JP" dirty="0"/>
          </a:p>
          <a:p>
            <a:r>
              <a:rPr kumimoji="1" lang="ja-JP" altLang="en-US" dirty="0"/>
              <a:t>総合制作実習を行うにあたり、内定先の企業で</a:t>
            </a:r>
            <a:r>
              <a:rPr kumimoji="1" lang="en-US" altLang="ja-JP" dirty="0"/>
              <a:t>Java</a:t>
            </a:r>
            <a:r>
              <a:rPr kumimoji="1" lang="ja-JP" altLang="en-US" dirty="0"/>
              <a:t>を使う指定がされていたので、実際の開発で使用される</a:t>
            </a:r>
            <a:r>
              <a:rPr kumimoji="1" lang="en-US" altLang="ja-JP" dirty="0"/>
              <a:t>Java</a:t>
            </a:r>
            <a:r>
              <a:rPr kumimoji="1" lang="ja-JP" altLang="en-US" dirty="0"/>
              <a:t>とフレームワーク技術を用いることで、本実習を通して開発経験を積むことが目的です。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4</a:t>
            </a:fld>
            <a:endParaRPr kumimoji="1" lang="ja-JP" altLang="en-US"/>
          </a:p>
        </p:txBody>
      </p:sp>
    </p:spTree>
    <p:extLst>
      <p:ext uri="{BB962C8B-B14F-4D97-AF65-F5344CB8AC3E}">
        <p14:creationId xmlns:p14="http://schemas.microsoft.com/office/powerpoint/2010/main" val="1399115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次に概要です。</a:t>
            </a:r>
            <a:endParaRPr kumimoji="1" lang="en-US" altLang="ja-JP"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5</a:t>
            </a:fld>
            <a:endParaRPr kumimoji="1" lang="ja-JP" altLang="en-US"/>
          </a:p>
        </p:txBody>
      </p:sp>
    </p:spTree>
    <p:extLst>
      <p:ext uri="{BB962C8B-B14F-4D97-AF65-F5344CB8AC3E}">
        <p14:creationId xmlns:p14="http://schemas.microsoft.com/office/powerpoint/2010/main" val="5287468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こちらが今回の開発環境になります。</a:t>
            </a:r>
            <a:endParaRPr kumimoji="1" lang="en-US" altLang="ja-JP" dirty="0"/>
          </a:p>
          <a:p>
            <a:r>
              <a:rPr kumimoji="1" lang="en-US" altLang="ja-JP" dirty="0"/>
              <a:t>OS</a:t>
            </a:r>
            <a:r>
              <a:rPr kumimoji="1" lang="ja-JP" altLang="en-US" dirty="0"/>
              <a:t>は</a:t>
            </a:r>
            <a:r>
              <a:rPr kumimoji="1" lang="en-US" altLang="ja-JP" dirty="0"/>
              <a:t>Windows11</a:t>
            </a:r>
            <a:r>
              <a:rPr kumimoji="1" lang="ja-JP" altLang="en-US" dirty="0"/>
              <a:t>、プログラム言語は指定の</a:t>
            </a:r>
            <a:r>
              <a:rPr kumimoji="1" lang="en-US" altLang="ja-JP" dirty="0"/>
              <a:t>Java,</a:t>
            </a:r>
            <a:r>
              <a:rPr kumimoji="1" lang="ja-JP" altLang="en-US" dirty="0"/>
              <a:t>それに伴って</a:t>
            </a:r>
            <a:r>
              <a:rPr kumimoji="1" lang="en-US" altLang="ja-JP" dirty="0"/>
              <a:t>JavaScript</a:t>
            </a:r>
            <a:r>
              <a:rPr kumimoji="1" lang="ja-JP" altLang="en-US" dirty="0"/>
              <a:t>を使用し、経験を積む目的で授業では取り扱わなかった</a:t>
            </a:r>
            <a:r>
              <a:rPr kumimoji="1" lang="en-US" altLang="ja-JP" dirty="0"/>
              <a:t>Spring Boot</a:t>
            </a:r>
            <a:r>
              <a:rPr kumimoji="1" lang="ja-JP" altLang="en-US" dirty="0"/>
              <a:t>を使って開発を進めました。</a:t>
            </a:r>
            <a:endParaRPr kumimoji="1" lang="en-US" altLang="ja-JP" dirty="0"/>
          </a:p>
          <a:p>
            <a:r>
              <a:rPr kumimoji="1" lang="ja-JP" altLang="en-US" dirty="0"/>
              <a:t>データベースでは、実際の開発環境に慣れるために、</a:t>
            </a:r>
            <a:r>
              <a:rPr kumimoji="1" lang="en-US" altLang="ja-JP" dirty="0"/>
              <a:t>MySQL</a:t>
            </a:r>
            <a:r>
              <a:rPr kumimoji="1" lang="ja-JP" altLang="en-US" dirty="0"/>
              <a:t>ではなく、</a:t>
            </a:r>
            <a:r>
              <a:rPr kumimoji="1" lang="en-US" altLang="ja-JP" dirty="0"/>
              <a:t>PostgreSQL</a:t>
            </a:r>
            <a:r>
              <a:rPr kumimoji="1" lang="ja-JP" altLang="en-US" dirty="0"/>
              <a:t>を使用しました。</a:t>
            </a:r>
            <a:endParaRPr kumimoji="1" lang="en-US" altLang="ja-JP" dirty="0"/>
          </a:p>
          <a:p>
            <a:r>
              <a:rPr kumimoji="1" lang="ja-JP" altLang="en-US" dirty="0"/>
              <a:t>フロントエンドでは、使い慣れている</a:t>
            </a:r>
            <a:r>
              <a:rPr kumimoji="1" lang="en-US" altLang="ja-JP" dirty="0"/>
              <a:t>HTML</a:t>
            </a:r>
            <a:r>
              <a:rPr kumimoji="1" lang="ja-JP" altLang="en-US" dirty="0"/>
              <a:t>と</a:t>
            </a:r>
            <a:r>
              <a:rPr kumimoji="1" lang="en-US" altLang="ja-JP" dirty="0"/>
              <a:t>CSS</a:t>
            </a:r>
            <a:r>
              <a:rPr kumimoji="1" lang="ja-JP" altLang="en-US" dirty="0"/>
              <a:t>を選択し、これら全てを</a:t>
            </a:r>
            <a:r>
              <a:rPr kumimoji="1" lang="en-US" altLang="ja-JP" dirty="0"/>
              <a:t>Eclipse</a:t>
            </a:r>
            <a:r>
              <a:rPr kumimoji="1" lang="ja-JP" altLang="en-US" dirty="0"/>
              <a:t>を使い作業しました。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6</a:t>
            </a:fld>
            <a:endParaRPr kumimoji="1" lang="ja-JP" altLang="en-US"/>
          </a:p>
        </p:txBody>
      </p:sp>
    </p:spTree>
    <p:extLst>
      <p:ext uri="{BB962C8B-B14F-4D97-AF65-F5344CB8AC3E}">
        <p14:creationId xmlns:p14="http://schemas.microsoft.com/office/powerpoint/2010/main" val="31960003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機能一覧です。</a:t>
            </a:r>
            <a:endParaRPr kumimoji="1" lang="en-US" altLang="ja-JP" dirty="0"/>
          </a:p>
          <a:p>
            <a:r>
              <a:rPr kumimoji="1" lang="ja-JP" altLang="en-US" dirty="0"/>
              <a:t>今回の総合制作ではこれら６つの機能の実装をすることが出来ました。それぞれの機能の説明に関しては、実演の際に詳しく解説していくため、省略させていただきます。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7</a:t>
            </a:fld>
            <a:endParaRPr kumimoji="1" lang="ja-JP" altLang="en-US"/>
          </a:p>
        </p:txBody>
      </p:sp>
    </p:spTree>
    <p:extLst>
      <p:ext uri="{BB962C8B-B14F-4D97-AF65-F5344CB8AC3E}">
        <p14:creationId xmlns:p14="http://schemas.microsoft.com/office/powerpoint/2010/main" val="1235815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それでは実演に入りたいと思います。</a:t>
            </a:r>
            <a:endParaRPr kumimoji="1" lang="en-US" altLang="ja-JP" dirty="0"/>
          </a:p>
          <a:p>
            <a:r>
              <a:rPr kumimoji="1" lang="ja-JP" altLang="en-US" dirty="0"/>
              <a:t>準備のため少々お待ちください。</a:t>
            </a:r>
            <a:endParaRPr kumimoji="1" lang="en-US" altLang="ja-JP" dirty="0"/>
          </a:p>
          <a:p>
            <a:r>
              <a:rPr kumimoji="1" lang="ja-JP" altLang="en-US" dirty="0"/>
              <a:t>ログイン画面の説明→新規登録の説明　ログインしてホーム画面へ</a:t>
            </a:r>
            <a:endParaRPr kumimoji="1" lang="en-US" altLang="ja-JP" dirty="0"/>
          </a:p>
          <a:p>
            <a:r>
              <a:rPr kumimoji="1" lang="ja-JP" altLang="en-US" dirty="0"/>
              <a:t>ホーム画面の説明（４つのボタン、プロフィール：これらはこれから紹介する各画面にあることを説明）、プロフィール画面の説明、ランキングの説明→ランキング画面へ</a:t>
            </a:r>
            <a:endParaRPr kumimoji="1" lang="en-US" altLang="ja-JP" dirty="0"/>
          </a:p>
          <a:p>
            <a:r>
              <a:rPr kumimoji="1" lang="ja-JP" altLang="en-US" dirty="0"/>
              <a:t>ランキング画面の説明（自分の順位、ボタンでランキングが切り替わる、</a:t>
            </a:r>
            <a:r>
              <a:rPr kumimoji="1" lang="en-US" altLang="ja-JP" dirty="0"/>
              <a:t>TOP50</a:t>
            </a:r>
            <a:r>
              <a:rPr kumimoji="1" lang="ja-JP" altLang="en-US" dirty="0"/>
              <a:t>までが表示、強調表示）→実績画面へ</a:t>
            </a:r>
            <a:endParaRPr kumimoji="1" lang="en-US" altLang="ja-JP" dirty="0"/>
          </a:p>
          <a:p>
            <a:r>
              <a:rPr kumimoji="1" lang="ja-JP" altLang="en-US" dirty="0"/>
              <a:t>実績画面の説明（総プレイ数、メダル獲得数・消費数、現在、各ゲームのプレイ数・獲得数）所持メダルの推移のグラフ説明（七日分のデータ）→ゲームリストへ</a:t>
            </a:r>
            <a:endParaRPr kumimoji="1" lang="en-US" altLang="ja-JP" dirty="0"/>
          </a:p>
          <a:p>
            <a:r>
              <a:rPr kumimoji="1" lang="ja-JP" altLang="en-US" dirty="0"/>
              <a:t>ゲームリストの説明→ハイ＆ローへ</a:t>
            </a:r>
            <a:endParaRPr kumimoji="1" lang="en-US" altLang="ja-JP" dirty="0"/>
          </a:p>
          <a:p>
            <a:r>
              <a:rPr kumimoji="1" lang="ja-JP" altLang="en-US" dirty="0"/>
              <a:t>ハイ＆ローの説明（各ボタンの説明、試しに何回かプレイ）ホームに戻りログアウト→別のユーザーでログイン</a:t>
            </a:r>
            <a:endParaRPr kumimoji="1" lang="en-US" altLang="ja-JP" dirty="0"/>
          </a:p>
          <a:p>
            <a:r>
              <a:rPr kumimoji="1" lang="ja-JP" altLang="en-US" dirty="0"/>
              <a:t>別のユーザーでホーム、ランキング、に遷移し表示が違うことを見せる</a:t>
            </a:r>
            <a:endParaRPr kumimoji="1" lang="en-US" altLang="ja-JP" dirty="0"/>
          </a:p>
          <a:p>
            <a:r>
              <a:rPr kumimoji="1" lang="ja-JP" altLang="en-US" dirty="0"/>
              <a:t>これで実演を終わります。</a:t>
            </a:r>
            <a:endParaRPr kumimoji="1" lang="en-US" altLang="ja-JP"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8</a:t>
            </a:fld>
            <a:endParaRPr kumimoji="1" lang="ja-JP" altLang="en-US"/>
          </a:p>
        </p:txBody>
      </p:sp>
    </p:spTree>
    <p:extLst>
      <p:ext uri="{BB962C8B-B14F-4D97-AF65-F5344CB8AC3E}">
        <p14:creationId xmlns:p14="http://schemas.microsoft.com/office/powerpoint/2010/main" val="16790989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次にこの総合制作実習で苦労したことです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9</a:t>
            </a:fld>
            <a:endParaRPr kumimoji="1" lang="ja-JP" altLang="en-US"/>
          </a:p>
        </p:txBody>
      </p:sp>
    </p:spTree>
    <p:extLst>
      <p:ext uri="{BB962C8B-B14F-4D97-AF65-F5344CB8AC3E}">
        <p14:creationId xmlns:p14="http://schemas.microsoft.com/office/powerpoint/2010/main" val="1591893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一つ目は度重なるエラーの連続です。開発途中で一つエラーが発生し、修正することが出来たと思ったら、別のエラーが発生することが多々ありました。特に</a:t>
            </a:r>
            <a:r>
              <a:rPr kumimoji="1" lang="en-US" altLang="ja-JP" dirty="0"/>
              <a:t>High</a:t>
            </a:r>
            <a:r>
              <a:rPr kumimoji="1" lang="ja-JP" altLang="en-US" dirty="0"/>
              <a:t>＆</a:t>
            </a:r>
            <a:r>
              <a:rPr kumimoji="1" lang="en-US" altLang="ja-JP" dirty="0"/>
              <a:t>Low</a:t>
            </a:r>
            <a:r>
              <a:rPr kumimoji="1" lang="ja-JP" altLang="en-US"/>
              <a:t>のゲームロジックを作成している最中はこの苦労がありました。</a:t>
            </a:r>
            <a:endParaRPr kumimoji="1" lang="ja-JP" altLang="en-US"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10</a:t>
            </a:fld>
            <a:endParaRPr kumimoji="1" lang="ja-JP" altLang="en-US"/>
          </a:p>
        </p:txBody>
      </p:sp>
    </p:spTree>
    <p:extLst>
      <p:ext uri="{BB962C8B-B14F-4D97-AF65-F5344CB8AC3E}">
        <p14:creationId xmlns:p14="http://schemas.microsoft.com/office/powerpoint/2010/main" val="2934027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二つ目はこまめに進捗を保存しなかったことです。</a:t>
            </a:r>
            <a:endParaRPr kumimoji="1" lang="en-US" altLang="ja-JP" dirty="0"/>
          </a:p>
          <a:p>
            <a:r>
              <a:rPr kumimoji="1" lang="ja-JP" altLang="en-US" dirty="0"/>
              <a:t>一度作業に集中すると、そのままの勢いで多くの処理や機能、のコードを作成してしまうことがありました。</a:t>
            </a:r>
            <a:endParaRPr kumimoji="1" lang="en-US" altLang="ja-JP" dirty="0"/>
          </a:p>
          <a:p>
            <a:r>
              <a:rPr kumimoji="1" lang="ja-JP" altLang="en-US" dirty="0"/>
              <a:t>その後、エラーが何も発生しなければ大丈夫なのですが、もしもエラーが発生した場合、どの部分の実装をした際に起きているエラーなのかが分かりづらく、修正に時間が掛かってしまいます。</a:t>
            </a:r>
            <a:endParaRPr kumimoji="1" lang="en-US" altLang="ja-JP" dirty="0"/>
          </a:p>
          <a:p>
            <a:r>
              <a:rPr kumimoji="1" lang="ja-JP" altLang="en-US" dirty="0"/>
              <a:t>なので、一つの処理や機能の実装が終わったら、必ずそこで進捗を保存したほうが良いことを学びました。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11</a:t>
            </a:fld>
            <a:endParaRPr kumimoji="1" lang="ja-JP" altLang="en-US"/>
          </a:p>
        </p:txBody>
      </p:sp>
    </p:spTree>
    <p:extLst>
      <p:ext uri="{BB962C8B-B14F-4D97-AF65-F5344CB8AC3E}">
        <p14:creationId xmlns:p14="http://schemas.microsoft.com/office/powerpoint/2010/main" val="3572308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３つ目は設計段階での見通しの甘さに苦労しました。</a:t>
            </a:r>
            <a:endParaRPr kumimoji="1" lang="en-US" altLang="ja-JP" dirty="0"/>
          </a:p>
          <a:p>
            <a:r>
              <a:rPr kumimoji="1" lang="ja-JP" altLang="en-US" dirty="0"/>
              <a:t>実装したい機能や処理の開発をしている際に、これを実装するなら、別の処理が必要だなと、開発途中で気づくことが多かったです。その為、次々と判明した追加すべき処理の内容の調整に追われ、作業が滞ることがありました。</a:t>
            </a:r>
            <a:endParaRPr kumimoji="1" lang="en-US" altLang="ja-JP" dirty="0"/>
          </a:p>
          <a:p>
            <a:r>
              <a:rPr kumimoji="1" lang="ja-JP" altLang="en-US" dirty="0"/>
              <a:t>また、実績画面でグラフを作成するために必要なデータを、集計する方法も、集計したデータをどういう風に画面に表示させたいのかをまとめれていなかったため、後から複数案が生じ、どの方法にするかを決めるのに手間取ってしまいま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12</a:t>
            </a:fld>
            <a:endParaRPr kumimoji="1" lang="ja-JP" altLang="en-US"/>
          </a:p>
        </p:txBody>
      </p:sp>
    </p:spTree>
    <p:extLst>
      <p:ext uri="{BB962C8B-B14F-4D97-AF65-F5344CB8AC3E}">
        <p14:creationId xmlns:p14="http://schemas.microsoft.com/office/powerpoint/2010/main" val="14454368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まとめです</a:t>
            </a:r>
            <a:endParaRPr kumimoji="1" lang="en-US" altLang="ja-JP"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13</a:t>
            </a:fld>
            <a:endParaRPr kumimoji="1" lang="ja-JP" altLang="en-US"/>
          </a:p>
        </p:txBody>
      </p:sp>
    </p:spTree>
    <p:extLst>
      <p:ext uri="{BB962C8B-B14F-4D97-AF65-F5344CB8AC3E}">
        <p14:creationId xmlns:p14="http://schemas.microsoft.com/office/powerpoint/2010/main" val="15200822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ショップ機能や、その他のゲームは未実装になってしまいましたが、メダルサイトとして自分が想定していた機能を一通り実装することができました。今後の課題として、未実装機能の制作、ユーザーが使いやすいと思えるような、ユーザビリティを高めた設定を課題としたいで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14</a:t>
            </a:fld>
            <a:endParaRPr kumimoji="1" lang="ja-JP" altLang="en-US"/>
          </a:p>
        </p:txBody>
      </p:sp>
    </p:spTree>
    <p:extLst>
      <p:ext uri="{BB962C8B-B14F-4D97-AF65-F5344CB8AC3E}">
        <p14:creationId xmlns:p14="http://schemas.microsoft.com/office/powerpoint/2010/main" val="1926591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最後に今回の総合制作実習を行うにあたり、株式会社プレシードの鈴木様、清水様、金指様、望月様、たくさんのご教授をいただき誠にありがとうございました。今回の実習で学んだ技術を活かし、今後の技術発展に向けて精進していきます。</a:t>
            </a:r>
            <a:endParaRPr kumimoji="1" lang="en-US" altLang="ja-JP" dirty="0"/>
          </a:p>
          <a:p>
            <a:r>
              <a:rPr kumimoji="1" lang="ja-JP" altLang="en-US" dirty="0"/>
              <a:t>ご清聴ありがとうございました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15</a:t>
            </a:fld>
            <a:endParaRPr kumimoji="1" lang="ja-JP" altLang="en-US"/>
          </a:p>
        </p:txBody>
      </p:sp>
    </p:spTree>
    <p:extLst>
      <p:ext uri="{BB962C8B-B14F-4D97-AF65-F5344CB8AC3E}">
        <p14:creationId xmlns:p14="http://schemas.microsoft.com/office/powerpoint/2010/main" val="3920104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2/6/2026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68924953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2/6/2026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1852115386"/>
      </p:ext>
    </p:extLst>
  </p:cSld>
  <p:clrMap bg1="lt1" tx1="dk1" bg2="lt2" tx2="dk2" accent1="accent1" accent2="accent2" accent3="accent3" accent4="accent4" accent5="accent5" accent6="accent6" hlink="hlink" folHlink="folHlink"/>
  <p:sldLayoutIdLst>
    <p:sldLayoutId id="2147483710" r:id="rId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6E448DB1-4196-18A6-15DA-C72635C1B1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descr="三角形を形成するように整列されたネオン レーザー光">
            <a:extLst>
              <a:ext uri="{FF2B5EF4-FFF2-40B4-BE49-F238E27FC236}">
                <a16:creationId xmlns:a16="http://schemas.microsoft.com/office/drawing/2014/main" id="{B6F2D79A-D5D4-0391-77F4-DDBC4DB90777}"/>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21" name="Rectangle 20">
            <a:extLst>
              <a:ext uri="{FF2B5EF4-FFF2-40B4-BE49-F238E27FC236}">
                <a16:creationId xmlns:a16="http://schemas.microsoft.com/office/drawing/2014/main" id="{DF15DF8A-891A-1965-E372-1BA1F3B94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507179" y="173179"/>
            <a:ext cx="6858002" cy="6511640"/>
          </a:xfrm>
          <a:prstGeom prst="rect">
            <a:avLst/>
          </a:prstGeom>
          <a:gradFill>
            <a:gsLst>
              <a:gs pos="0">
                <a:schemeClr val="bg1">
                  <a:alpha val="0"/>
                </a:schemeClr>
              </a:gs>
              <a:gs pos="46000">
                <a:schemeClr val="bg1">
                  <a:alpha val="33000"/>
                </a:schemeClr>
              </a:gs>
              <a:gs pos="26000">
                <a:schemeClr val="bg1">
                  <a:alpha val="20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タイトル 1">
            <a:extLst>
              <a:ext uri="{FF2B5EF4-FFF2-40B4-BE49-F238E27FC236}">
                <a16:creationId xmlns:a16="http://schemas.microsoft.com/office/drawing/2014/main" id="{32D92A2A-0A87-8365-EE40-C9310CDD44EB}"/>
              </a:ext>
            </a:extLst>
          </p:cNvPr>
          <p:cNvSpPr>
            <a:spLocks noGrp="1"/>
          </p:cNvSpPr>
          <p:nvPr>
            <p:ph type="ctrTitle"/>
          </p:nvPr>
        </p:nvSpPr>
        <p:spPr>
          <a:xfrm>
            <a:off x="7473219" y="898373"/>
            <a:ext cx="4470544" cy="3474720"/>
          </a:xfrm>
        </p:spPr>
        <p:txBody>
          <a:bodyPr vert="horz" lIns="91440" tIns="45720" rIns="91440" bIns="45720" rtlCol="0" anchor="b">
            <a:normAutofit/>
          </a:bodyPr>
          <a:lstStyle/>
          <a:p>
            <a:pPr algn="l"/>
            <a:r>
              <a:rPr kumimoji="1" lang="en-US" altLang="ja-JP" sz="5800" dirty="0">
                <a:latin typeface="Arial" panose="020B0604020202020204" pitchFamily="34" charset="0"/>
                <a:cs typeface="Arial" panose="020B0604020202020204" pitchFamily="34" charset="0"/>
              </a:rPr>
              <a:t>Scot Medal Park</a:t>
            </a:r>
          </a:p>
        </p:txBody>
      </p:sp>
      <p:sp>
        <p:nvSpPr>
          <p:cNvPr id="5" name="テキスト ボックス 4">
            <a:extLst>
              <a:ext uri="{FF2B5EF4-FFF2-40B4-BE49-F238E27FC236}">
                <a16:creationId xmlns:a16="http://schemas.microsoft.com/office/drawing/2014/main" id="{8236B458-8B6D-5099-ADA0-5683EA0B3C59}"/>
              </a:ext>
            </a:extLst>
          </p:cNvPr>
          <p:cNvSpPr txBox="1"/>
          <p:nvPr/>
        </p:nvSpPr>
        <p:spPr>
          <a:xfrm>
            <a:off x="7482646" y="4495013"/>
            <a:ext cx="4116410" cy="1386840"/>
          </a:xfrm>
          <a:prstGeom prst="rect">
            <a:avLst/>
          </a:prstGeom>
        </p:spPr>
        <p:txBody>
          <a:bodyPr vert="horz" lIns="91440" tIns="45720" rIns="91440" bIns="45720" rtlCol="0" anchor="t">
            <a:normAutofit/>
          </a:bodyPr>
          <a:lstStyle/>
          <a:p>
            <a:pPr>
              <a:lnSpc>
                <a:spcPct val="120000"/>
              </a:lnSpc>
              <a:spcBef>
                <a:spcPts val="1000"/>
              </a:spcBef>
            </a:pPr>
            <a:r>
              <a:rPr lang="en-US" altLang="ja-JP" sz="2200" dirty="0">
                <a:latin typeface="Arial" panose="020B0604020202020204" pitchFamily="34" charset="0"/>
                <a:cs typeface="Arial" panose="020B0604020202020204" pitchFamily="34" charset="0"/>
              </a:rPr>
              <a:t>N242322</a:t>
            </a:r>
            <a:r>
              <a:rPr lang="ja-JP" altLang="en-US" sz="2200" dirty="0">
                <a:latin typeface="Arial" panose="020B0604020202020204" pitchFamily="34" charset="0"/>
                <a:cs typeface="Arial" panose="020B0604020202020204" pitchFamily="34" charset="0"/>
              </a:rPr>
              <a:t>　藁科光</a:t>
            </a:r>
            <a:endParaRPr kumimoji="1" lang="en-US" altLang="ja-JP"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282088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par>
                          <p:cTn id="8" fill="hold">
                            <p:stCondLst>
                              <p:cond delay="188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5075F-BDF1-195A-F62E-305381787276}"/>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D395B9A4-DCB1-7190-7D87-F64512031586}"/>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10" name="テキスト ボックス 9">
            <a:extLst>
              <a:ext uri="{FF2B5EF4-FFF2-40B4-BE49-F238E27FC236}">
                <a16:creationId xmlns:a16="http://schemas.microsoft.com/office/drawing/2014/main" id="{C8D73BB1-F59A-5F14-B121-84E5CD277F14}"/>
              </a:ext>
            </a:extLst>
          </p:cNvPr>
          <p:cNvSpPr txBox="1"/>
          <p:nvPr/>
        </p:nvSpPr>
        <p:spPr>
          <a:xfrm>
            <a:off x="334298" y="226141"/>
            <a:ext cx="1779638" cy="923330"/>
          </a:xfrm>
          <a:prstGeom prst="rect">
            <a:avLst/>
          </a:prstGeom>
          <a:noFill/>
        </p:spPr>
        <p:txBody>
          <a:bodyPr wrap="square" rtlCol="0">
            <a:spAutoFit/>
          </a:bodyPr>
          <a:lstStyle/>
          <a:p>
            <a:r>
              <a:rPr kumimoji="1" lang="ja-JP" altLang="en-US" sz="5400" dirty="0">
                <a:solidFill>
                  <a:schemeClr val="bg1"/>
                </a:solidFill>
                <a:latin typeface="Arial" panose="020B0604020202020204" pitchFamily="34" charset="0"/>
                <a:cs typeface="Arial" panose="020B0604020202020204" pitchFamily="34" charset="0"/>
              </a:rPr>
              <a:t>目次</a:t>
            </a:r>
          </a:p>
        </p:txBody>
      </p:sp>
      <p:sp>
        <p:nvSpPr>
          <p:cNvPr id="11" name="楕円 10">
            <a:extLst>
              <a:ext uri="{FF2B5EF4-FFF2-40B4-BE49-F238E27FC236}">
                <a16:creationId xmlns:a16="http://schemas.microsoft.com/office/drawing/2014/main" id="{8A1A43B3-006C-B1CB-4416-2E0D7B4F6BC2}"/>
              </a:ext>
            </a:extLst>
          </p:cNvPr>
          <p:cNvSpPr/>
          <p:nvPr/>
        </p:nvSpPr>
        <p:spPr>
          <a:xfrm>
            <a:off x="382308" y="1375602"/>
            <a:ext cx="2675694" cy="2675694"/>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4800" dirty="0"/>
              <a:t>背景</a:t>
            </a:r>
            <a:endParaRPr kumimoji="1" lang="en-US" altLang="ja-JP" sz="4800" dirty="0"/>
          </a:p>
          <a:p>
            <a:pPr algn="ctr"/>
            <a:r>
              <a:rPr kumimoji="1" lang="ja-JP" altLang="en-US" sz="4800" dirty="0"/>
              <a:t>・</a:t>
            </a:r>
            <a:endParaRPr kumimoji="1" lang="en-US" altLang="ja-JP" sz="4800" dirty="0"/>
          </a:p>
          <a:p>
            <a:pPr algn="ctr"/>
            <a:r>
              <a:rPr kumimoji="1" lang="ja-JP" altLang="en-US" sz="4800" dirty="0"/>
              <a:t>目的</a:t>
            </a:r>
          </a:p>
        </p:txBody>
      </p:sp>
      <p:sp>
        <p:nvSpPr>
          <p:cNvPr id="12" name="楕円 11">
            <a:extLst>
              <a:ext uri="{FF2B5EF4-FFF2-40B4-BE49-F238E27FC236}">
                <a16:creationId xmlns:a16="http://schemas.microsoft.com/office/drawing/2014/main" id="{87461D44-955F-4B9E-D830-96C2A62BC92E}"/>
              </a:ext>
            </a:extLst>
          </p:cNvPr>
          <p:cNvSpPr/>
          <p:nvPr/>
        </p:nvSpPr>
        <p:spPr>
          <a:xfrm>
            <a:off x="2465172" y="3815605"/>
            <a:ext cx="2675693" cy="2675693"/>
          </a:xfrm>
          <a:prstGeom prst="ellipse">
            <a:avLst/>
          </a:prstGeom>
          <a:solidFill>
            <a:schemeClr val="tx2">
              <a:lumMod val="25000"/>
              <a:lumOff val="75000"/>
            </a:schemeClr>
          </a:solidFill>
          <a:ln>
            <a:solidFill>
              <a:schemeClr val="tx2">
                <a:lumMod val="25000"/>
                <a:lumOff val="75000"/>
              </a:schemeClr>
            </a:solidFill>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4800" dirty="0"/>
              <a:t>概要</a:t>
            </a:r>
          </a:p>
        </p:txBody>
      </p:sp>
      <p:sp>
        <p:nvSpPr>
          <p:cNvPr id="13" name="楕円 12">
            <a:extLst>
              <a:ext uri="{FF2B5EF4-FFF2-40B4-BE49-F238E27FC236}">
                <a16:creationId xmlns:a16="http://schemas.microsoft.com/office/drawing/2014/main" id="{9A587D37-7A80-6136-F2F9-8785C10F0436}"/>
              </a:ext>
            </a:extLst>
          </p:cNvPr>
          <p:cNvSpPr/>
          <p:nvPr/>
        </p:nvSpPr>
        <p:spPr>
          <a:xfrm>
            <a:off x="7051137" y="3815605"/>
            <a:ext cx="2675423" cy="2675423"/>
          </a:xfrm>
          <a:prstGeom prst="ellipse">
            <a:avLst/>
          </a:prstGeom>
          <a:solidFill>
            <a:schemeClr val="accent6">
              <a:lumMod val="40000"/>
              <a:lumOff val="60000"/>
            </a:schemeClr>
          </a:solidFill>
          <a:ln>
            <a:solidFill>
              <a:schemeClr val="accent6">
                <a:lumMod val="40000"/>
                <a:lumOff val="60000"/>
              </a:schemeClr>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sz="4800" dirty="0"/>
              <a:t>苦労</a:t>
            </a:r>
            <a:endParaRPr kumimoji="1" lang="en-US" altLang="ja-JP" sz="4800" dirty="0"/>
          </a:p>
        </p:txBody>
      </p:sp>
      <p:sp>
        <p:nvSpPr>
          <p:cNvPr id="14" name="楕円 13">
            <a:extLst>
              <a:ext uri="{FF2B5EF4-FFF2-40B4-BE49-F238E27FC236}">
                <a16:creationId xmlns:a16="http://schemas.microsoft.com/office/drawing/2014/main" id="{3B6C7948-ABDE-71CF-7526-B52FAF6C1B56}"/>
              </a:ext>
            </a:extLst>
          </p:cNvPr>
          <p:cNvSpPr/>
          <p:nvPr/>
        </p:nvSpPr>
        <p:spPr>
          <a:xfrm>
            <a:off x="4758288" y="1337722"/>
            <a:ext cx="2675424" cy="2675424"/>
          </a:xfrm>
          <a:prstGeom prst="ellipse">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sz="4800" dirty="0"/>
              <a:t>実演</a:t>
            </a:r>
          </a:p>
        </p:txBody>
      </p:sp>
      <p:sp>
        <p:nvSpPr>
          <p:cNvPr id="15" name="楕円 14">
            <a:extLst>
              <a:ext uri="{FF2B5EF4-FFF2-40B4-BE49-F238E27FC236}">
                <a16:creationId xmlns:a16="http://schemas.microsoft.com/office/drawing/2014/main" id="{0DFE6A9B-DB75-8970-55E2-89E37A905BF1}"/>
              </a:ext>
            </a:extLst>
          </p:cNvPr>
          <p:cNvSpPr/>
          <p:nvPr/>
        </p:nvSpPr>
        <p:spPr>
          <a:xfrm>
            <a:off x="9134000" y="1337722"/>
            <a:ext cx="2675424" cy="2675424"/>
          </a:xfrm>
          <a:prstGeom prst="ellipse">
            <a:avLst/>
          </a:prstGeom>
          <a:solidFill>
            <a:schemeClr val="bg1">
              <a:lumMod val="95000"/>
            </a:schemeClr>
          </a:solidFill>
          <a:ln>
            <a:solidFill>
              <a:schemeClr val="bg1">
                <a:lumMod val="95000"/>
              </a:schemeClr>
            </a:solid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sz="4400" dirty="0"/>
              <a:t>まとめ</a:t>
            </a:r>
          </a:p>
        </p:txBody>
      </p:sp>
    </p:spTree>
    <p:extLst>
      <p:ext uri="{BB962C8B-B14F-4D97-AF65-F5344CB8AC3E}">
        <p14:creationId xmlns:p14="http://schemas.microsoft.com/office/powerpoint/2010/main" val="1639741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75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anim calcmode="lin" valueType="num">
                                      <p:cBhvr>
                                        <p:cTn id="13" dur="1000" fill="hold"/>
                                        <p:tgtEl>
                                          <p:spTgt spid="12"/>
                                        </p:tgtEl>
                                        <p:attrNameLst>
                                          <p:attrName>ppt_x</p:attrName>
                                        </p:attrNameLst>
                                      </p:cBhvr>
                                      <p:tavLst>
                                        <p:tav tm="0">
                                          <p:val>
                                            <p:strVal val="#ppt_x"/>
                                          </p:val>
                                        </p:tav>
                                        <p:tav tm="100000">
                                          <p:val>
                                            <p:strVal val="#ppt_x"/>
                                          </p:val>
                                        </p:tav>
                                      </p:tavLst>
                                    </p:anim>
                                    <p:anim calcmode="lin" valueType="num">
                                      <p:cBhvr>
                                        <p:cTn id="14" dur="1000" fill="hold"/>
                                        <p:tgtEl>
                                          <p:spTgt spid="12"/>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15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1000"/>
                                        <p:tgtEl>
                                          <p:spTgt spid="14"/>
                                        </p:tgtEl>
                                      </p:cBhvr>
                                    </p:animEffect>
                                    <p:anim calcmode="lin" valueType="num">
                                      <p:cBhvr>
                                        <p:cTn id="18" dur="1000" fill="hold"/>
                                        <p:tgtEl>
                                          <p:spTgt spid="14"/>
                                        </p:tgtEl>
                                        <p:attrNameLst>
                                          <p:attrName>ppt_x</p:attrName>
                                        </p:attrNameLst>
                                      </p:cBhvr>
                                      <p:tavLst>
                                        <p:tav tm="0">
                                          <p:val>
                                            <p:strVal val="#ppt_x"/>
                                          </p:val>
                                        </p:tav>
                                        <p:tav tm="100000">
                                          <p:val>
                                            <p:strVal val="#ppt_x"/>
                                          </p:val>
                                        </p:tav>
                                      </p:tavLst>
                                    </p:anim>
                                    <p:anim calcmode="lin" valueType="num">
                                      <p:cBhvr>
                                        <p:cTn id="19" dur="1000" fill="hold"/>
                                        <p:tgtEl>
                                          <p:spTgt spid="14"/>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5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1000"/>
                                        <p:tgtEl>
                                          <p:spTgt spid="13"/>
                                        </p:tgtEl>
                                      </p:cBhvr>
                                    </p:animEffect>
                                    <p:anim calcmode="lin" valueType="num">
                                      <p:cBhvr>
                                        <p:cTn id="23" dur="1000" fill="hold"/>
                                        <p:tgtEl>
                                          <p:spTgt spid="13"/>
                                        </p:tgtEl>
                                        <p:attrNameLst>
                                          <p:attrName>ppt_x</p:attrName>
                                        </p:attrNameLst>
                                      </p:cBhvr>
                                      <p:tavLst>
                                        <p:tav tm="0">
                                          <p:val>
                                            <p:strVal val="#ppt_x"/>
                                          </p:val>
                                        </p:tav>
                                        <p:tav tm="100000">
                                          <p:val>
                                            <p:strVal val="#ppt_x"/>
                                          </p:val>
                                        </p:tav>
                                      </p:tavLst>
                                    </p:anim>
                                    <p:anim calcmode="lin" valueType="num">
                                      <p:cBhvr>
                                        <p:cTn id="24" dur="1000" fill="hold"/>
                                        <p:tgtEl>
                                          <p:spTgt spid="13"/>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300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1000"/>
                                        <p:tgtEl>
                                          <p:spTgt spid="15"/>
                                        </p:tgtEl>
                                      </p:cBhvr>
                                    </p:animEffect>
                                    <p:anim calcmode="lin" valueType="num">
                                      <p:cBhvr>
                                        <p:cTn id="28" dur="1000" fill="hold"/>
                                        <p:tgtEl>
                                          <p:spTgt spid="15"/>
                                        </p:tgtEl>
                                        <p:attrNameLst>
                                          <p:attrName>ppt_x</p:attrName>
                                        </p:attrNameLst>
                                      </p:cBhvr>
                                      <p:tavLst>
                                        <p:tav tm="0">
                                          <p:val>
                                            <p:strVal val="#ppt_x"/>
                                          </p:val>
                                        </p:tav>
                                        <p:tav tm="100000">
                                          <p:val>
                                            <p:strVal val="#ppt_x"/>
                                          </p:val>
                                        </p:tav>
                                      </p:tavLst>
                                    </p:anim>
                                    <p:anim calcmode="lin" valueType="num">
                                      <p:cBhvr>
                                        <p:cTn id="2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43432-3597-BC63-1CD1-8BFEC005D928}"/>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65AD57CD-91E1-F98D-0261-51D99621BC70}"/>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4272EA45-DFBC-D88A-E47B-4F271CDC7292}"/>
              </a:ext>
            </a:extLst>
          </p:cNvPr>
          <p:cNvSpPr>
            <a:spLocks noGrp="1"/>
          </p:cNvSpPr>
          <p:nvPr>
            <p:ph type="ctrTitle"/>
          </p:nvPr>
        </p:nvSpPr>
        <p:spPr>
          <a:xfrm>
            <a:off x="2854106" y="2781357"/>
            <a:ext cx="6483787"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背景・目的</a:t>
            </a:r>
          </a:p>
        </p:txBody>
      </p:sp>
    </p:spTree>
    <p:extLst>
      <p:ext uri="{BB962C8B-B14F-4D97-AF65-F5344CB8AC3E}">
        <p14:creationId xmlns:p14="http://schemas.microsoft.com/office/powerpoint/2010/main" val="34701636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7B688-4386-196C-A7EC-59DE942F6D67}"/>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FB77BD99-12FF-03CD-3D76-CA12EE9803E7}"/>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7EC4918B-8D04-EC31-F32D-E75F80E44544}"/>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背景・目的</a:t>
            </a:r>
          </a:p>
        </p:txBody>
      </p:sp>
      <p:sp>
        <p:nvSpPr>
          <p:cNvPr id="8" name="四角形: 角を丸くする 7">
            <a:extLst>
              <a:ext uri="{FF2B5EF4-FFF2-40B4-BE49-F238E27FC236}">
                <a16:creationId xmlns:a16="http://schemas.microsoft.com/office/drawing/2014/main" id="{D93717B3-EFE8-93E5-5CBE-D69E436B4EA0}"/>
              </a:ext>
            </a:extLst>
          </p:cNvPr>
          <p:cNvSpPr/>
          <p:nvPr/>
        </p:nvSpPr>
        <p:spPr>
          <a:xfrm>
            <a:off x="791496" y="1787013"/>
            <a:ext cx="10609007" cy="1248696"/>
          </a:xfrm>
          <a:prstGeom prst="roundRect">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趣味であるゲームに関係するものを作成しようと考え、</a:t>
            </a:r>
            <a:endParaRPr lang="en-US" altLang="ja-JP" sz="3200" dirty="0">
              <a:solidFill>
                <a:schemeClr val="accent1">
                  <a:lumMod val="20000"/>
                  <a:lumOff val="80000"/>
                </a:schemeClr>
              </a:solidFill>
              <a:latin typeface="Arial" panose="020B0604020202020204" pitchFamily="34" charset="0"/>
              <a:cs typeface="Arial" panose="020B0604020202020204" pitchFamily="34" charset="0"/>
            </a:endParaRPr>
          </a:p>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集めたメダルを使って交換するサイトを作成した</a:t>
            </a:r>
          </a:p>
        </p:txBody>
      </p:sp>
      <p:sp>
        <p:nvSpPr>
          <p:cNvPr id="9" name="四角形: 角を丸くする 8">
            <a:extLst>
              <a:ext uri="{FF2B5EF4-FFF2-40B4-BE49-F238E27FC236}">
                <a16:creationId xmlns:a16="http://schemas.microsoft.com/office/drawing/2014/main" id="{FDE8CB87-C0EB-FE01-5C5A-A7E88790D754}"/>
              </a:ext>
            </a:extLst>
          </p:cNvPr>
          <p:cNvSpPr/>
          <p:nvPr/>
        </p:nvSpPr>
        <p:spPr>
          <a:xfrm>
            <a:off x="791496" y="3822292"/>
            <a:ext cx="10609007" cy="1900082"/>
          </a:xfrm>
          <a:prstGeom prst="roundRect">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実際の開発で使用される</a:t>
            </a:r>
            <a:r>
              <a:rPr lang="en-US" altLang="ja-JP" sz="3200" dirty="0">
                <a:solidFill>
                  <a:schemeClr val="accent1">
                    <a:lumMod val="20000"/>
                    <a:lumOff val="80000"/>
                  </a:schemeClr>
                </a:solidFill>
                <a:latin typeface="Arial" panose="020B0604020202020204" pitchFamily="34" charset="0"/>
                <a:cs typeface="Arial" panose="020B0604020202020204" pitchFamily="34" charset="0"/>
              </a:rPr>
              <a:t>Java</a:t>
            </a:r>
            <a:r>
              <a:rPr lang="ja-JP" altLang="en-US" sz="3200" dirty="0">
                <a:solidFill>
                  <a:schemeClr val="accent1">
                    <a:lumMod val="20000"/>
                    <a:lumOff val="80000"/>
                  </a:schemeClr>
                </a:solidFill>
                <a:latin typeface="Arial" panose="020B0604020202020204" pitchFamily="34" charset="0"/>
                <a:cs typeface="Arial" panose="020B0604020202020204" pitchFamily="34" charset="0"/>
              </a:rPr>
              <a:t>とフレームワーク技術を</a:t>
            </a:r>
            <a:endParaRPr lang="en-US" altLang="ja-JP" sz="3200" dirty="0">
              <a:solidFill>
                <a:schemeClr val="accent1">
                  <a:lumMod val="20000"/>
                  <a:lumOff val="80000"/>
                </a:schemeClr>
              </a:solidFill>
              <a:latin typeface="Arial" panose="020B0604020202020204" pitchFamily="34" charset="0"/>
              <a:cs typeface="Arial" panose="020B0604020202020204" pitchFamily="34" charset="0"/>
            </a:endParaRPr>
          </a:p>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用いることで、本実習を通して開発経験を積むことを</a:t>
            </a:r>
            <a:endParaRPr lang="en-US" altLang="ja-JP" sz="3200" dirty="0">
              <a:solidFill>
                <a:schemeClr val="accent1">
                  <a:lumMod val="20000"/>
                  <a:lumOff val="80000"/>
                </a:schemeClr>
              </a:solidFill>
              <a:latin typeface="Arial" panose="020B0604020202020204" pitchFamily="34" charset="0"/>
              <a:cs typeface="Arial" panose="020B0604020202020204" pitchFamily="34" charset="0"/>
            </a:endParaRPr>
          </a:p>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目的とする</a:t>
            </a:r>
            <a:endParaRPr lang="en-US" altLang="ja-JP" sz="3200" dirty="0">
              <a:solidFill>
                <a:schemeClr val="accent1">
                  <a:lumMod val="20000"/>
                  <a:lumOff val="8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3589634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A173-2D2C-F372-F71D-35EA019C1ACB}"/>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E82E54E5-2A04-82F9-1155-E317A274957E}"/>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3738FA97-DA45-EF67-DB34-59D7D41DF424}"/>
              </a:ext>
            </a:extLst>
          </p:cNvPr>
          <p:cNvSpPr>
            <a:spLocks noGrp="1"/>
          </p:cNvSpPr>
          <p:nvPr>
            <p:ph type="ctrTitle"/>
          </p:nvPr>
        </p:nvSpPr>
        <p:spPr>
          <a:xfrm>
            <a:off x="3151826" y="2781357"/>
            <a:ext cx="5888348"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概要</a:t>
            </a:r>
          </a:p>
        </p:txBody>
      </p:sp>
    </p:spTree>
    <p:extLst>
      <p:ext uri="{BB962C8B-B14F-4D97-AF65-F5344CB8AC3E}">
        <p14:creationId xmlns:p14="http://schemas.microsoft.com/office/powerpoint/2010/main" val="3368065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8E059-92BE-1516-7F20-A074C5BC8DF5}"/>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BD1A8C67-5AC4-5ADB-8509-B5BF410421B2}"/>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7FC4CA37-83AD-7C7E-D196-C8FB41D42238}"/>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開発環境</a:t>
            </a:r>
          </a:p>
        </p:txBody>
      </p:sp>
      <p:graphicFrame>
        <p:nvGraphicFramePr>
          <p:cNvPr id="2" name="表 1">
            <a:extLst>
              <a:ext uri="{FF2B5EF4-FFF2-40B4-BE49-F238E27FC236}">
                <a16:creationId xmlns:a16="http://schemas.microsoft.com/office/drawing/2014/main" id="{FFA786DF-D1C7-B471-3C44-4FFFDA888902}"/>
              </a:ext>
            </a:extLst>
          </p:cNvPr>
          <p:cNvGraphicFramePr>
            <a:graphicFrameLocks noGrp="1"/>
          </p:cNvGraphicFramePr>
          <p:nvPr>
            <p:extLst>
              <p:ext uri="{D42A27DB-BD31-4B8C-83A1-F6EECF244321}">
                <p14:modId xmlns:p14="http://schemas.microsoft.com/office/powerpoint/2010/main" val="4116662485"/>
              </p:ext>
            </p:extLst>
          </p:nvPr>
        </p:nvGraphicFramePr>
        <p:xfrm>
          <a:off x="986117" y="1324772"/>
          <a:ext cx="10219766" cy="4733365"/>
        </p:xfrm>
        <a:graphic>
          <a:graphicData uri="http://schemas.openxmlformats.org/drawingml/2006/table">
            <a:tbl>
              <a:tblPr firstRow="1" bandRow="1">
                <a:tableStyleId>{073A0DAA-6AF3-43AB-8588-CEC1D06C72B9}</a:tableStyleId>
              </a:tblPr>
              <a:tblGrid>
                <a:gridCol w="3370730">
                  <a:extLst>
                    <a:ext uri="{9D8B030D-6E8A-4147-A177-3AD203B41FA5}">
                      <a16:colId xmlns:a16="http://schemas.microsoft.com/office/drawing/2014/main" val="3238888070"/>
                    </a:ext>
                  </a:extLst>
                </a:gridCol>
                <a:gridCol w="6849036">
                  <a:extLst>
                    <a:ext uri="{9D8B030D-6E8A-4147-A177-3AD203B41FA5}">
                      <a16:colId xmlns:a16="http://schemas.microsoft.com/office/drawing/2014/main" val="3362673850"/>
                    </a:ext>
                  </a:extLst>
                </a:gridCol>
              </a:tblGrid>
              <a:tr h="946673">
                <a:tc>
                  <a:txBody>
                    <a:bodyPr/>
                    <a:lstStyle/>
                    <a:p>
                      <a:r>
                        <a:rPr kumimoji="1" lang="en-US" altLang="ja-JP" sz="3200" dirty="0"/>
                        <a:t>OS</a:t>
                      </a:r>
                      <a:endParaRPr kumimoji="1" lang="ja-JP" altLang="en-US" sz="3200" dirty="0"/>
                    </a:p>
                  </a:txBody>
                  <a:tcPr anchor="ctr"/>
                </a:tc>
                <a:tc>
                  <a:txBody>
                    <a:bodyPr/>
                    <a:lstStyle/>
                    <a:p>
                      <a:r>
                        <a:rPr kumimoji="1" lang="en-US" altLang="ja-JP" sz="3200" dirty="0"/>
                        <a:t>Windows11</a:t>
                      </a:r>
                      <a:endParaRPr kumimoji="1" lang="ja-JP" altLang="en-US" sz="3200" dirty="0"/>
                    </a:p>
                  </a:txBody>
                  <a:tcPr anchor="ctr"/>
                </a:tc>
                <a:extLst>
                  <a:ext uri="{0D108BD9-81ED-4DB2-BD59-A6C34878D82A}">
                    <a16:rowId xmlns:a16="http://schemas.microsoft.com/office/drawing/2014/main" val="853207639"/>
                  </a:ext>
                </a:extLst>
              </a:tr>
              <a:tr h="946673">
                <a:tc>
                  <a:txBody>
                    <a:bodyPr/>
                    <a:lstStyle/>
                    <a:p>
                      <a:r>
                        <a:rPr kumimoji="1" lang="ja-JP" altLang="en-US" sz="3200" dirty="0"/>
                        <a:t>プログラム言語</a:t>
                      </a:r>
                    </a:p>
                  </a:txBody>
                  <a:tcPr anchor="ctr"/>
                </a:tc>
                <a:tc>
                  <a:txBody>
                    <a:bodyPr/>
                    <a:lstStyle/>
                    <a:p>
                      <a:r>
                        <a:rPr kumimoji="1" lang="en-US" altLang="ja-JP" sz="3200" dirty="0"/>
                        <a:t>Java</a:t>
                      </a:r>
                      <a:r>
                        <a:rPr kumimoji="1" lang="ja-JP" altLang="en-US" sz="3200" dirty="0"/>
                        <a:t>、</a:t>
                      </a:r>
                      <a:r>
                        <a:rPr kumimoji="1" lang="en-US" altLang="ja-JP" sz="3200" dirty="0"/>
                        <a:t>JavaScript</a:t>
                      </a:r>
                      <a:r>
                        <a:rPr kumimoji="1" lang="ja-JP" altLang="en-US" sz="3200" dirty="0"/>
                        <a:t>、</a:t>
                      </a:r>
                      <a:r>
                        <a:rPr kumimoji="1" lang="en-US" altLang="ja-JP" sz="3200" dirty="0"/>
                        <a:t>Spring Boot</a:t>
                      </a:r>
                      <a:endParaRPr kumimoji="1" lang="ja-JP" altLang="en-US" sz="3200" dirty="0"/>
                    </a:p>
                  </a:txBody>
                  <a:tcPr anchor="ctr"/>
                </a:tc>
                <a:extLst>
                  <a:ext uri="{0D108BD9-81ED-4DB2-BD59-A6C34878D82A}">
                    <a16:rowId xmlns:a16="http://schemas.microsoft.com/office/drawing/2014/main" val="3414639436"/>
                  </a:ext>
                </a:extLst>
              </a:tr>
              <a:tr h="946673">
                <a:tc>
                  <a:txBody>
                    <a:bodyPr/>
                    <a:lstStyle/>
                    <a:p>
                      <a:r>
                        <a:rPr kumimoji="1" lang="ja-JP" altLang="en-US" sz="3200" dirty="0"/>
                        <a:t>データベース</a:t>
                      </a:r>
                    </a:p>
                  </a:txBody>
                  <a:tcPr anchor="ctr"/>
                </a:tc>
                <a:tc>
                  <a:txBody>
                    <a:bodyPr/>
                    <a:lstStyle/>
                    <a:p>
                      <a:r>
                        <a:rPr kumimoji="1" lang="en-US" altLang="ja-JP" sz="3200" dirty="0"/>
                        <a:t>PostgreSQL</a:t>
                      </a:r>
                      <a:endParaRPr kumimoji="1" lang="ja-JP" altLang="en-US" sz="3200" dirty="0"/>
                    </a:p>
                  </a:txBody>
                  <a:tcPr anchor="ctr"/>
                </a:tc>
                <a:extLst>
                  <a:ext uri="{0D108BD9-81ED-4DB2-BD59-A6C34878D82A}">
                    <a16:rowId xmlns:a16="http://schemas.microsoft.com/office/drawing/2014/main" val="3328787629"/>
                  </a:ext>
                </a:extLst>
              </a:tr>
              <a:tr h="946673">
                <a:tc>
                  <a:txBody>
                    <a:bodyPr/>
                    <a:lstStyle/>
                    <a:p>
                      <a:r>
                        <a:rPr kumimoji="1" lang="ja-JP" altLang="en-US" sz="3200" dirty="0"/>
                        <a:t>フロントエンド</a:t>
                      </a:r>
                    </a:p>
                  </a:txBody>
                  <a:tcPr anchor="ctr"/>
                </a:tc>
                <a:tc>
                  <a:txBody>
                    <a:bodyPr/>
                    <a:lstStyle/>
                    <a:p>
                      <a:r>
                        <a:rPr kumimoji="1" lang="en-US" altLang="ja-JP" sz="3200" dirty="0"/>
                        <a:t>HTML</a:t>
                      </a:r>
                      <a:r>
                        <a:rPr kumimoji="1" lang="ja-JP" altLang="en-US" sz="3200" dirty="0"/>
                        <a:t>、</a:t>
                      </a:r>
                      <a:r>
                        <a:rPr kumimoji="1" lang="en-US" altLang="ja-JP" sz="3200" dirty="0"/>
                        <a:t>CSS</a:t>
                      </a:r>
                      <a:endParaRPr kumimoji="1" lang="ja-JP" altLang="en-US" sz="3200" dirty="0"/>
                    </a:p>
                  </a:txBody>
                  <a:tcPr anchor="ctr"/>
                </a:tc>
                <a:extLst>
                  <a:ext uri="{0D108BD9-81ED-4DB2-BD59-A6C34878D82A}">
                    <a16:rowId xmlns:a16="http://schemas.microsoft.com/office/drawing/2014/main" val="1370935876"/>
                  </a:ext>
                </a:extLst>
              </a:tr>
              <a:tr h="946673">
                <a:tc>
                  <a:txBody>
                    <a:bodyPr/>
                    <a:lstStyle/>
                    <a:p>
                      <a:r>
                        <a:rPr kumimoji="1" lang="ja-JP" altLang="en-US" sz="3200" dirty="0"/>
                        <a:t>統合開発環境</a:t>
                      </a:r>
                    </a:p>
                  </a:txBody>
                  <a:tcPr anchor="ctr"/>
                </a:tc>
                <a:tc>
                  <a:txBody>
                    <a:bodyPr/>
                    <a:lstStyle/>
                    <a:p>
                      <a:r>
                        <a:rPr kumimoji="1" lang="en-US" altLang="ja-JP" sz="3200" dirty="0"/>
                        <a:t>Eclipse</a:t>
                      </a:r>
                      <a:r>
                        <a:rPr kumimoji="1" lang="ja-JP" altLang="en-US" sz="3200" dirty="0"/>
                        <a:t>、</a:t>
                      </a:r>
                      <a:r>
                        <a:rPr kumimoji="1" lang="en-US" altLang="ja-JP" sz="3200" dirty="0"/>
                        <a:t>Gradle</a:t>
                      </a:r>
                      <a:endParaRPr kumimoji="1" lang="ja-JP" altLang="en-US" sz="3200" dirty="0"/>
                    </a:p>
                  </a:txBody>
                  <a:tcPr anchor="ctr"/>
                </a:tc>
                <a:extLst>
                  <a:ext uri="{0D108BD9-81ED-4DB2-BD59-A6C34878D82A}">
                    <a16:rowId xmlns:a16="http://schemas.microsoft.com/office/drawing/2014/main" val="1421682902"/>
                  </a:ext>
                </a:extLst>
              </a:tr>
            </a:tbl>
          </a:graphicData>
        </a:graphic>
      </p:graphicFrame>
    </p:spTree>
    <p:extLst>
      <p:ext uri="{BB962C8B-B14F-4D97-AF65-F5344CB8AC3E}">
        <p14:creationId xmlns:p14="http://schemas.microsoft.com/office/powerpoint/2010/main" val="2814351647"/>
      </p:ext>
    </p:extLst>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BDB5F2-4747-A426-4FC4-167AE932DE61}"/>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DF10CFEB-65C7-4602-862C-8BE26092F983}"/>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89C8737D-DDDA-41CA-3C64-3939282EFC72}"/>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機能一覧</a:t>
            </a:r>
          </a:p>
        </p:txBody>
      </p:sp>
      <p:sp>
        <p:nvSpPr>
          <p:cNvPr id="7" name="四角形: 角を丸くする 6">
            <a:extLst>
              <a:ext uri="{FF2B5EF4-FFF2-40B4-BE49-F238E27FC236}">
                <a16:creationId xmlns:a16="http://schemas.microsoft.com/office/drawing/2014/main" id="{0BF212F4-C578-A64E-AC9B-FF7939B7A6ED}"/>
              </a:ext>
            </a:extLst>
          </p:cNvPr>
          <p:cNvSpPr/>
          <p:nvPr/>
        </p:nvSpPr>
        <p:spPr>
          <a:xfrm>
            <a:off x="6555657" y="1753592"/>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・プロフィール</a:t>
            </a:r>
          </a:p>
        </p:txBody>
      </p:sp>
      <p:sp>
        <p:nvSpPr>
          <p:cNvPr id="8" name="四角形: 角を丸くする 7">
            <a:extLst>
              <a:ext uri="{FF2B5EF4-FFF2-40B4-BE49-F238E27FC236}">
                <a16:creationId xmlns:a16="http://schemas.microsoft.com/office/drawing/2014/main" id="{A3A5D0FF-6860-3239-BF10-54E3D9F79F51}"/>
              </a:ext>
            </a:extLst>
          </p:cNvPr>
          <p:cNvSpPr/>
          <p:nvPr/>
        </p:nvSpPr>
        <p:spPr>
          <a:xfrm>
            <a:off x="6555657" y="3175788"/>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・実績</a:t>
            </a:r>
          </a:p>
        </p:txBody>
      </p:sp>
      <p:sp>
        <p:nvSpPr>
          <p:cNvPr id="9" name="四角形: 角を丸くする 8">
            <a:extLst>
              <a:ext uri="{FF2B5EF4-FFF2-40B4-BE49-F238E27FC236}">
                <a16:creationId xmlns:a16="http://schemas.microsoft.com/office/drawing/2014/main" id="{76E97AF0-8511-C175-A127-733707AB3AA9}"/>
              </a:ext>
            </a:extLst>
          </p:cNvPr>
          <p:cNvSpPr/>
          <p:nvPr/>
        </p:nvSpPr>
        <p:spPr>
          <a:xfrm>
            <a:off x="852951" y="3175788"/>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・新規登録</a:t>
            </a:r>
          </a:p>
        </p:txBody>
      </p:sp>
      <p:sp>
        <p:nvSpPr>
          <p:cNvPr id="10" name="四角形: 角を丸くする 9">
            <a:extLst>
              <a:ext uri="{FF2B5EF4-FFF2-40B4-BE49-F238E27FC236}">
                <a16:creationId xmlns:a16="http://schemas.microsoft.com/office/drawing/2014/main" id="{F4AF4646-6838-65FD-C15A-22C2B49F849E}"/>
              </a:ext>
            </a:extLst>
          </p:cNvPr>
          <p:cNvSpPr/>
          <p:nvPr/>
        </p:nvSpPr>
        <p:spPr>
          <a:xfrm>
            <a:off x="852951" y="1753592"/>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・ログイン</a:t>
            </a:r>
            <a:r>
              <a:rPr lang="en-US" altLang="ja-JP" sz="3200" dirty="0">
                <a:solidFill>
                  <a:schemeClr val="bg2"/>
                </a:solidFill>
                <a:latin typeface="Arial" panose="020B0604020202020204" pitchFamily="34" charset="0"/>
                <a:cs typeface="Arial" panose="020B0604020202020204" pitchFamily="34" charset="0"/>
              </a:rPr>
              <a:t>/</a:t>
            </a:r>
            <a:r>
              <a:rPr lang="ja-JP" altLang="en-US" sz="3200" dirty="0">
                <a:solidFill>
                  <a:schemeClr val="bg2"/>
                </a:solidFill>
                <a:latin typeface="Arial" panose="020B0604020202020204" pitchFamily="34" charset="0"/>
                <a:cs typeface="Arial" panose="020B0604020202020204" pitchFamily="34" charset="0"/>
              </a:rPr>
              <a:t>ログアウト</a:t>
            </a:r>
          </a:p>
        </p:txBody>
      </p:sp>
      <p:sp>
        <p:nvSpPr>
          <p:cNvPr id="11" name="四角形: 角を丸くする 10">
            <a:extLst>
              <a:ext uri="{FF2B5EF4-FFF2-40B4-BE49-F238E27FC236}">
                <a16:creationId xmlns:a16="http://schemas.microsoft.com/office/drawing/2014/main" id="{6F423F73-6BA8-E3A9-AA2D-D49969A59D4B}"/>
              </a:ext>
            </a:extLst>
          </p:cNvPr>
          <p:cNvSpPr/>
          <p:nvPr/>
        </p:nvSpPr>
        <p:spPr>
          <a:xfrm>
            <a:off x="852951" y="4597984"/>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・各ゲームのプレイ</a:t>
            </a:r>
          </a:p>
        </p:txBody>
      </p:sp>
      <p:sp>
        <p:nvSpPr>
          <p:cNvPr id="12" name="四角形: 角を丸くする 11">
            <a:extLst>
              <a:ext uri="{FF2B5EF4-FFF2-40B4-BE49-F238E27FC236}">
                <a16:creationId xmlns:a16="http://schemas.microsoft.com/office/drawing/2014/main" id="{6C845B99-618D-8266-ED0D-A03883607840}"/>
              </a:ext>
            </a:extLst>
          </p:cNvPr>
          <p:cNvSpPr/>
          <p:nvPr/>
        </p:nvSpPr>
        <p:spPr>
          <a:xfrm>
            <a:off x="6555657" y="4597984"/>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・ランキング</a:t>
            </a:r>
          </a:p>
        </p:txBody>
      </p:sp>
    </p:spTree>
    <p:extLst>
      <p:ext uri="{BB962C8B-B14F-4D97-AF65-F5344CB8AC3E}">
        <p14:creationId xmlns:p14="http://schemas.microsoft.com/office/powerpoint/2010/main" val="325183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37"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arn(outVertical)">
                                      <p:cBhvr>
                                        <p:cTn id="7" dur="500"/>
                                        <p:tgtEl>
                                          <p:spTgt spid="10"/>
                                        </p:tgtEl>
                                      </p:cBhvr>
                                    </p:animEffect>
                                  </p:childTnLst>
                                </p:cTn>
                              </p:par>
                              <p:par>
                                <p:cTn id="8" presetID="16" presetClass="entr" presetSubtype="37"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arn(outVertical)">
                                      <p:cBhvr>
                                        <p:cTn id="10" dur="500"/>
                                        <p:tgtEl>
                                          <p:spTgt spid="7"/>
                                        </p:tgtEl>
                                      </p:cBhvr>
                                    </p:animEffect>
                                  </p:childTnLst>
                                </p:cTn>
                              </p:par>
                              <p:par>
                                <p:cTn id="11" presetID="16" presetClass="entr" presetSubtype="37"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barn(outVertical)">
                                      <p:cBhvr>
                                        <p:cTn id="13" dur="500"/>
                                        <p:tgtEl>
                                          <p:spTgt spid="9"/>
                                        </p:tgtEl>
                                      </p:cBhvr>
                                    </p:animEffect>
                                  </p:childTnLst>
                                </p:cTn>
                              </p:par>
                              <p:par>
                                <p:cTn id="14" presetID="16" presetClass="entr" presetSubtype="37"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arn(outVertical)">
                                      <p:cBhvr>
                                        <p:cTn id="16" dur="500"/>
                                        <p:tgtEl>
                                          <p:spTgt spid="8"/>
                                        </p:tgtEl>
                                      </p:cBhvr>
                                    </p:animEffect>
                                  </p:childTnLst>
                                </p:cTn>
                              </p:par>
                              <p:par>
                                <p:cTn id="17" presetID="16" presetClass="entr" presetSubtype="37"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arn(outVertical)">
                                      <p:cBhvr>
                                        <p:cTn id="19" dur="500"/>
                                        <p:tgtEl>
                                          <p:spTgt spid="11"/>
                                        </p:tgtEl>
                                      </p:cBhvr>
                                    </p:animEffect>
                                  </p:childTnLst>
                                </p:cTn>
                              </p:par>
                              <p:par>
                                <p:cTn id="20" presetID="16" presetClass="entr" presetSubtype="37"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barn(outVertical)">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D01C5-6F8E-9904-65AF-915E2B5DC1DC}"/>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FA523D36-6D1B-A232-B827-331C4E6849F4}"/>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FEF63EC5-C4C4-48DB-CBCB-1D833FFD93DF}"/>
              </a:ext>
            </a:extLst>
          </p:cNvPr>
          <p:cNvSpPr>
            <a:spLocks noGrp="1"/>
          </p:cNvSpPr>
          <p:nvPr>
            <p:ph type="ctrTitle"/>
          </p:nvPr>
        </p:nvSpPr>
        <p:spPr>
          <a:xfrm>
            <a:off x="3151826" y="2781357"/>
            <a:ext cx="5888348"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実演</a:t>
            </a:r>
          </a:p>
        </p:txBody>
      </p:sp>
    </p:spTree>
    <p:extLst>
      <p:ext uri="{BB962C8B-B14F-4D97-AF65-F5344CB8AC3E}">
        <p14:creationId xmlns:p14="http://schemas.microsoft.com/office/powerpoint/2010/main" val="18553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E939A-8040-A8F7-5EFD-1CCCEC3BB44D}"/>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E274611E-7A2A-8736-C48A-A70817B57E54}"/>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D4DFAB5B-E37E-3240-F30D-1FCB5198DBB5}"/>
              </a:ext>
            </a:extLst>
          </p:cNvPr>
          <p:cNvSpPr>
            <a:spLocks noGrp="1"/>
          </p:cNvSpPr>
          <p:nvPr>
            <p:ph type="ctrTitle"/>
          </p:nvPr>
        </p:nvSpPr>
        <p:spPr>
          <a:xfrm>
            <a:off x="3151826" y="2781357"/>
            <a:ext cx="5888348"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苦労</a:t>
            </a:r>
          </a:p>
        </p:txBody>
      </p:sp>
    </p:spTree>
    <p:extLst>
      <p:ext uri="{BB962C8B-B14F-4D97-AF65-F5344CB8AC3E}">
        <p14:creationId xmlns:p14="http://schemas.microsoft.com/office/powerpoint/2010/main" val="136132666"/>
      </p:ext>
    </p:extLst>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4F735-3BCB-1E29-AAD2-02B117E62303}"/>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CA50AA81-051E-1FBA-345D-FE9E1BB3AE57}"/>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7AE863BF-F213-ADC8-E3D6-9D59CE472150}"/>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苦労①</a:t>
            </a:r>
          </a:p>
        </p:txBody>
      </p:sp>
      <p:sp>
        <p:nvSpPr>
          <p:cNvPr id="5" name="四角形: 角を丸くする 4">
            <a:extLst>
              <a:ext uri="{FF2B5EF4-FFF2-40B4-BE49-F238E27FC236}">
                <a16:creationId xmlns:a16="http://schemas.microsoft.com/office/drawing/2014/main" id="{D464FC98-609B-E4EE-FF5A-2DE174B8ECA7}"/>
              </a:ext>
            </a:extLst>
          </p:cNvPr>
          <p:cNvSpPr/>
          <p:nvPr/>
        </p:nvSpPr>
        <p:spPr>
          <a:xfrm>
            <a:off x="2760408" y="320077"/>
            <a:ext cx="4783392" cy="684628"/>
          </a:xfrm>
          <a:prstGeom prst="roundRect">
            <a:avLst>
              <a:gd name="adj" fmla="val 16969"/>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度重なるエラーの連続</a:t>
            </a:r>
          </a:p>
        </p:txBody>
      </p:sp>
      <p:sp>
        <p:nvSpPr>
          <p:cNvPr id="8" name="四角形: 角を丸くする 7">
            <a:extLst>
              <a:ext uri="{FF2B5EF4-FFF2-40B4-BE49-F238E27FC236}">
                <a16:creationId xmlns:a16="http://schemas.microsoft.com/office/drawing/2014/main" id="{1DE25A06-967A-3CB9-9A5F-D9BFE449BD98}"/>
              </a:ext>
            </a:extLst>
          </p:cNvPr>
          <p:cNvSpPr/>
          <p:nvPr/>
        </p:nvSpPr>
        <p:spPr>
          <a:xfrm>
            <a:off x="3704304" y="2152854"/>
            <a:ext cx="4783392" cy="413365"/>
          </a:xfrm>
          <a:prstGeom prst="roundRect">
            <a:avLst>
              <a:gd name="adj" fmla="val 0"/>
            </a:avLst>
          </a:prstGeom>
          <a:solidFill>
            <a:srgbClr val="FF000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エラー発生</a:t>
            </a:r>
          </a:p>
        </p:txBody>
      </p:sp>
      <p:sp>
        <p:nvSpPr>
          <p:cNvPr id="9" name="矢印: 下 8">
            <a:extLst>
              <a:ext uri="{FF2B5EF4-FFF2-40B4-BE49-F238E27FC236}">
                <a16:creationId xmlns:a16="http://schemas.microsoft.com/office/drawing/2014/main" id="{D70DDF88-9B02-FA5B-E708-ABF9B0223BF3}"/>
              </a:ext>
            </a:extLst>
          </p:cNvPr>
          <p:cNvSpPr/>
          <p:nvPr/>
        </p:nvSpPr>
        <p:spPr>
          <a:xfrm>
            <a:off x="4891548" y="2782528"/>
            <a:ext cx="2408904" cy="646471"/>
          </a:xfrm>
          <a:prstGeom prst="downArrow">
            <a:avLst>
              <a:gd name="adj1" fmla="val 49184"/>
              <a:gd name="adj2" fmla="val 56084"/>
            </a:avLst>
          </a:prstGeom>
          <a:solidFill>
            <a:schemeClr val="bg1"/>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66ED109-9A40-F7FC-C303-8703B9BD7EF4}"/>
              </a:ext>
            </a:extLst>
          </p:cNvPr>
          <p:cNvSpPr/>
          <p:nvPr/>
        </p:nvSpPr>
        <p:spPr>
          <a:xfrm>
            <a:off x="3704304" y="3645308"/>
            <a:ext cx="4783392" cy="413365"/>
          </a:xfrm>
          <a:prstGeom prst="roundRect">
            <a:avLst>
              <a:gd name="adj" fmla="val 0"/>
            </a:avLst>
          </a:prstGeom>
          <a:solidFill>
            <a:schemeClr val="accent1">
              <a:lumMod val="20000"/>
              <a:lumOff val="80000"/>
            </a:schemeClr>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tx1">
                    <a:lumMod val="85000"/>
                    <a:lumOff val="15000"/>
                  </a:schemeClr>
                </a:solidFill>
                <a:latin typeface="Arial" panose="020B0604020202020204" pitchFamily="34" charset="0"/>
                <a:cs typeface="Arial" panose="020B0604020202020204" pitchFamily="34" charset="0"/>
              </a:rPr>
              <a:t>修正完了</a:t>
            </a:r>
          </a:p>
        </p:txBody>
      </p:sp>
      <p:sp>
        <p:nvSpPr>
          <p:cNvPr id="11" name="矢印: 下 10">
            <a:extLst>
              <a:ext uri="{FF2B5EF4-FFF2-40B4-BE49-F238E27FC236}">
                <a16:creationId xmlns:a16="http://schemas.microsoft.com/office/drawing/2014/main" id="{FF3EB19D-3C79-69F8-9C6A-B305FF22D13A}"/>
              </a:ext>
            </a:extLst>
          </p:cNvPr>
          <p:cNvSpPr/>
          <p:nvPr/>
        </p:nvSpPr>
        <p:spPr>
          <a:xfrm>
            <a:off x="4891548" y="4274982"/>
            <a:ext cx="2408904" cy="646471"/>
          </a:xfrm>
          <a:prstGeom prst="downArrow">
            <a:avLst>
              <a:gd name="adj1" fmla="val 49184"/>
              <a:gd name="adj2" fmla="val 56084"/>
            </a:avLst>
          </a:prstGeom>
          <a:solidFill>
            <a:schemeClr val="bg1"/>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B06A2521-B50E-CA43-EA30-E14927DEDD2D}"/>
              </a:ext>
            </a:extLst>
          </p:cNvPr>
          <p:cNvSpPr/>
          <p:nvPr/>
        </p:nvSpPr>
        <p:spPr>
          <a:xfrm>
            <a:off x="3704304" y="5137762"/>
            <a:ext cx="4783392" cy="413365"/>
          </a:xfrm>
          <a:prstGeom prst="roundRect">
            <a:avLst>
              <a:gd name="adj" fmla="val 0"/>
            </a:avLst>
          </a:prstGeom>
          <a:solidFill>
            <a:srgbClr val="FF000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エラー発生</a:t>
            </a:r>
          </a:p>
        </p:txBody>
      </p:sp>
    </p:spTree>
    <p:extLst>
      <p:ext uri="{BB962C8B-B14F-4D97-AF65-F5344CB8AC3E}">
        <p14:creationId xmlns:p14="http://schemas.microsoft.com/office/powerpoint/2010/main" val="637228710"/>
      </p:ext>
    </p:extLst>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86E8B-CDA7-1CD2-7773-47194ED88C8F}"/>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2171BA29-917E-CA0B-1EE7-A0C4B7F4F950}"/>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FCB15360-26AE-F7D3-9567-1334538DF742}"/>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苦労②</a:t>
            </a:r>
          </a:p>
        </p:txBody>
      </p:sp>
      <p:sp>
        <p:nvSpPr>
          <p:cNvPr id="5" name="四角形: 角を丸くする 4">
            <a:extLst>
              <a:ext uri="{FF2B5EF4-FFF2-40B4-BE49-F238E27FC236}">
                <a16:creationId xmlns:a16="http://schemas.microsoft.com/office/drawing/2014/main" id="{7EE10A92-C72D-684E-373E-0387CDDA6811}"/>
              </a:ext>
            </a:extLst>
          </p:cNvPr>
          <p:cNvSpPr/>
          <p:nvPr/>
        </p:nvSpPr>
        <p:spPr>
          <a:xfrm>
            <a:off x="2743693" y="320077"/>
            <a:ext cx="4783392" cy="684628"/>
          </a:xfrm>
          <a:prstGeom prst="roundRect">
            <a:avLst>
              <a:gd name="adj" fmla="val 16969"/>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こまめなセーブ</a:t>
            </a:r>
          </a:p>
        </p:txBody>
      </p:sp>
      <p:grpSp>
        <p:nvGrpSpPr>
          <p:cNvPr id="16" name="グループ化 15">
            <a:extLst>
              <a:ext uri="{FF2B5EF4-FFF2-40B4-BE49-F238E27FC236}">
                <a16:creationId xmlns:a16="http://schemas.microsoft.com/office/drawing/2014/main" id="{E9AF4D4F-9D57-1FF0-A9D9-088D6E4E161C}"/>
              </a:ext>
            </a:extLst>
          </p:cNvPr>
          <p:cNvGrpSpPr/>
          <p:nvPr/>
        </p:nvGrpSpPr>
        <p:grpSpPr>
          <a:xfrm>
            <a:off x="1347493" y="1755809"/>
            <a:ext cx="3297778" cy="3144792"/>
            <a:chOff x="806814" y="2724392"/>
            <a:chExt cx="3297778" cy="3144792"/>
          </a:xfrm>
        </p:grpSpPr>
        <p:pic>
          <p:nvPicPr>
            <p:cNvPr id="3" name="図 2" descr="座る, テーブル, 小さい, クマ が含まれている画像&#10;&#10;AI 生成コンテンツは誤りを含む可能性があります。">
              <a:extLst>
                <a:ext uri="{FF2B5EF4-FFF2-40B4-BE49-F238E27FC236}">
                  <a16:creationId xmlns:a16="http://schemas.microsoft.com/office/drawing/2014/main" id="{04BB15DF-34BE-CE69-FFD0-5C72326E9C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108230" y="2724392"/>
              <a:ext cx="2189568" cy="2030824"/>
            </a:xfrm>
            <a:prstGeom prst="rect">
              <a:avLst/>
            </a:prstGeom>
          </p:spPr>
        </p:pic>
        <p:pic>
          <p:nvPicPr>
            <p:cNvPr id="14" name="図 13" descr="座る, テーブル, 小さい, クマ が含まれている画像&#10;&#10;AI 生成コンテンツは誤りを含む可能性があります。">
              <a:extLst>
                <a:ext uri="{FF2B5EF4-FFF2-40B4-BE49-F238E27FC236}">
                  <a16:creationId xmlns:a16="http://schemas.microsoft.com/office/drawing/2014/main" id="{5E921DFA-5CB4-70F7-C519-42B97AF7CA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915024" y="3575732"/>
              <a:ext cx="2189568" cy="2030824"/>
            </a:xfrm>
            <a:prstGeom prst="rect">
              <a:avLst/>
            </a:prstGeom>
          </p:spPr>
        </p:pic>
        <p:pic>
          <p:nvPicPr>
            <p:cNvPr id="15" name="図 14" descr="座る, テーブル, 小さい, クマ が含まれている画像&#10;&#10;AI 生成コンテンツは誤りを含む可能性があります。">
              <a:extLst>
                <a:ext uri="{FF2B5EF4-FFF2-40B4-BE49-F238E27FC236}">
                  <a16:creationId xmlns:a16="http://schemas.microsoft.com/office/drawing/2014/main" id="{CBEDF120-97D9-406F-53CD-6D5DBE211A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806814" y="3838360"/>
              <a:ext cx="2189568" cy="2030824"/>
            </a:xfrm>
            <a:prstGeom prst="rect">
              <a:avLst/>
            </a:prstGeom>
          </p:spPr>
        </p:pic>
      </p:grpSp>
      <p:sp>
        <p:nvSpPr>
          <p:cNvPr id="19" name="矢印: 右 18">
            <a:extLst>
              <a:ext uri="{FF2B5EF4-FFF2-40B4-BE49-F238E27FC236}">
                <a16:creationId xmlns:a16="http://schemas.microsoft.com/office/drawing/2014/main" id="{D7ADE816-BB9F-8128-119B-8A2FB762961F}"/>
              </a:ext>
            </a:extLst>
          </p:cNvPr>
          <p:cNvSpPr/>
          <p:nvPr/>
        </p:nvSpPr>
        <p:spPr>
          <a:xfrm>
            <a:off x="5112489" y="2825590"/>
            <a:ext cx="1967021" cy="796971"/>
          </a:xfrm>
          <a:prstGeom prs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図 17" descr="ゲームのキャラクター&#10;&#10;AI 生成コンテンツは誤りを含む可能性があります。">
            <a:extLst>
              <a:ext uri="{FF2B5EF4-FFF2-40B4-BE49-F238E27FC236}">
                <a16:creationId xmlns:a16="http://schemas.microsoft.com/office/drawing/2014/main" id="{7D40A9A5-B039-6A4A-04B0-2AE4AAF97D4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99870" y="1878523"/>
            <a:ext cx="1900078" cy="2759450"/>
          </a:xfrm>
          <a:prstGeom prst="rect">
            <a:avLst/>
          </a:prstGeom>
        </p:spPr>
      </p:pic>
      <p:sp>
        <p:nvSpPr>
          <p:cNvPr id="20" name="乗算記号 19">
            <a:extLst>
              <a:ext uri="{FF2B5EF4-FFF2-40B4-BE49-F238E27FC236}">
                <a16:creationId xmlns:a16="http://schemas.microsoft.com/office/drawing/2014/main" id="{9E46D2B1-9455-453B-85D9-2470FBC40CED}"/>
              </a:ext>
            </a:extLst>
          </p:cNvPr>
          <p:cNvSpPr/>
          <p:nvPr/>
        </p:nvSpPr>
        <p:spPr>
          <a:xfrm>
            <a:off x="7178873" y="1772404"/>
            <a:ext cx="3542071" cy="3542071"/>
          </a:xfrm>
          <a:prstGeom prst="mathMultiply">
            <a:avLst>
              <a:gd name="adj1" fmla="val 4023"/>
            </a:avLst>
          </a:prstGeom>
          <a:solidFill>
            <a:srgbClr val="F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1" name="四角形: 角を丸くする 20">
            <a:extLst>
              <a:ext uri="{FF2B5EF4-FFF2-40B4-BE49-F238E27FC236}">
                <a16:creationId xmlns:a16="http://schemas.microsoft.com/office/drawing/2014/main" id="{3301BF1B-B8CD-3D96-495E-7CB765584B6C}"/>
              </a:ext>
            </a:extLst>
          </p:cNvPr>
          <p:cNvSpPr/>
          <p:nvPr/>
        </p:nvSpPr>
        <p:spPr>
          <a:xfrm>
            <a:off x="1145457" y="5405672"/>
            <a:ext cx="9901083" cy="684628"/>
          </a:xfrm>
          <a:prstGeom prst="roundRect">
            <a:avLst>
              <a:gd name="adj" fmla="val 16969"/>
            </a:avLst>
          </a:prstGeom>
          <a:solidFill>
            <a:srgbClr val="FFFF66"/>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tx1"/>
                </a:solidFill>
                <a:latin typeface="Arial" panose="020B0604020202020204" pitchFamily="34" charset="0"/>
                <a:cs typeface="Arial" panose="020B0604020202020204" pitchFamily="34" charset="0"/>
              </a:rPr>
              <a:t>どの作業で起きたエラーなのか分かりずらい！！</a:t>
            </a:r>
          </a:p>
        </p:txBody>
      </p:sp>
    </p:spTree>
    <p:extLst>
      <p:ext uri="{BB962C8B-B14F-4D97-AF65-F5344CB8AC3E}">
        <p14:creationId xmlns:p14="http://schemas.microsoft.com/office/powerpoint/2010/main" val="792306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6" presetClass="entr" presetSubtype="32"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circle(out)">
                                      <p:cBhvr>
                                        <p:cTn id="22" dur="25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additive="base">
                                        <p:cTn id="27" dur="500" fill="hold"/>
                                        <p:tgtEl>
                                          <p:spTgt spid="21"/>
                                        </p:tgtEl>
                                        <p:attrNameLst>
                                          <p:attrName>ppt_x</p:attrName>
                                        </p:attrNameLst>
                                      </p:cBhvr>
                                      <p:tavLst>
                                        <p:tav tm="0">
                                          <p:val>
                                            <p:strVal val="#ppt_x"/>
                                          </p:val>
                                        </p:tav>
                                        <p:tav tm="100000">
                                          <p:val>
                                            <p:strVal val="#ppt_x"/>
                                          </p:val>
                                        </p:tav>
                                      </p:tavLst>
                                    </p:anim>
                                    <p:anim calcmode="lin" valueType="num">
                                      <p:cBhvr additive="base">
                                        <p:cTn id="2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150F8-FAC9-91B1-EF39-C4C973035AF1}"/>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C359D399-31B7-CE7A-F9BD-022DEA3C0717}"/>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5945925F-68B0-B224-2E87-D0357F1FC319}"/>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苦労③</a:t>
            </a:r>
          </a:p>
        </p:txBody>
      </p:sp>
      <p:sp>
        <p:nvSpPr>
          <p:cNvPr id="5" name="四角形: 角を丸くする 4">
            <a:extLst>
              <a:ext uri="{FF2B5EF4-FFF2-40B4-BE49-F238E27FC236}">
                <a16:creationId xmlns:a16="http://schemas.microsoft.com/office/drawing/2014/main" id="{B14AAC7D-818C-15B0-B495-E49A6F455941}"/>
              </a:ext>
            </a:extLst>
          </p:cNvPr>
          <p:cNvSpPr/>
          <p:nvPr/>
        </p:nvSpPr>
        <p:spPr>
          <a:xfrm>
            <a:off x="2750576" y="320077"/>
            <a:ext cx="4783392" cy="684628"/>
          </a:xfrm>
          <a:prstGeom prst="roundRect">
            <a:avLst>
              <a:gd name="adj" fmla="val 16969"/>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設計の見通しの甘さ</a:t>
            </a:r>
          </a:p>
        </p:txBody>
      </p:sp>
      <p:sp>
        <p:nvSpPr>
          <p:cNvPr id="2" name="四角形: 角を丸くする 1">
            <a:extLst>
              <a:ext uri="{FF2B5EF4-FFF2-40B4-BE49-F238E27FC236}">
                <a16:creationId xmlns:a16="http://schemas.microsoft.com/office/drawing/2014/main" id="{08422FA1-5C69-B09B-5732-C0E8915A39D1}"/>
              </a:ext>
            </a:extLst>
          </p:cNvPr>
          <p:cNvSpPr/>
          <p:nvPr/>
        </p:nvSpPr>
        <p:spPr>
          <a:xfrm>
            <a:off x="358880" y="1448203"/>
            <a:ext cx="4783392" cy="684628"/>
          </a:xfrm>
          <a:prstGeom prst="roundRect">
            <a:avLst>
              <a:gd name="adj" fmla="val 16969"/>
            </a:avLst>
          </a:prstGeom>
          <a:solidFill>
            <a:schemeClr val="accent6">
              <a:lumMod val="40000"/>
              <a:lumOff val="60000"/>
            </a:schemeClr>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rgbClr val="0070C0"/>
                </a:solidFill>
                <a:latin typeface="Arial" panose="020B0604020202020204" pitchFamily="34" charset="0"/>
                <a:cs typeface="Arial" panose="020B0604020202020204" pitchFamily="34" charset="0"/>
              </a:rPr>
              <a:t>詳細な処理の設計</a:t>
            </a:r>
          </a:p>
        </p:txBody>
      </p:sp>
      <p:sp>
        <p:nvSpPr>
          <p:cNvPr id="3" name="テキスト ボックス 2">
            <a:extLst>
              <a:ext uri="{FF2B5EF4-FFF2-40B4-BE49-F238E27FC236}">
                <a16:creationId xmlns:a16="http://schemas.microsoft.com/office/drawing/2014/main" id="{C38F9572-8DFD-D3ED-62B8-BB3D39C2F18B}"/>
              </a:ext>
            </a:extLst>
          </p:cNvPr>
          <p:cNvSpPr txBox="1"/>
          <p:nvPr/>
        </p:nvSpPr>
        <p:spPr>
          <a:xfrm>
            <a:off x="1156186" y="2508604"/>
            <a:ext cx="8404673" cy="1077218"/>
          </a:xfrm>
          <a:prstGeom prst="rect">
            <a:avLst/>
          </a:prstGeom>
          <a:noFill/>
        </p:spPr>
        <p:txBody>
          <a:bodyPr wrap="square" rtlCol="0">
            <a:spAutoFit/>
          </a:bodyPr>
          <a:lstStyle/>
          <a:p>
            <a:r>
              <a:rPr kumimoji="1" lang="ja-JP" altLang="en-US" sz="3200" b="1" dirty="0">
                <a:ln>
                  <a:solidFill>
                    <a:schemeClr val="tx2"/>
                  </a:solidFill>
                </a:ln>
                <a:solidFill>
                  <a:schemeClr val="bg2">
                    <a:lumMod val="75000"/>
                  </a:schemeClr>
                </a:solidFill>
              </a:rPr>
              <a:t>開発途中で追加すべき処理が次々に判明し、調整に手間取る</a:t>
            </a:r>
            <a:endParaRPr kumimoji="1" lang="en-US" altLang="ja-JP" sz="3200" b="1" dirty="0">
              <a:ln>
                <a:solidFill>
                  <a:schemeClr val="tx2"/>
                </a:solidFill>
              </a:ln>
              <a:solidFill>
                <a:schemeClr val="bg2">
                  <a:lumMod val="75000"/>
                </a:schemeClr>
              </a:solidFill>
            </a:endParaRPr>
          </a:p>
        </p:txBody>
      </p:sp>
      <p:sp>
        <p:nvSpPr>
          <p:cNvPr id="7" name="四角形: 角を丸くする 6">
            <a:extLst>
              <a:ext uri="{FF2B5EF4-FFF2-40B4-BE49-F238E27FC236}">
                <a16:creationId xmlns:a16="http://schemas.microsoft.com/office/drawing/2014/main" id="{D5CF64C1-AFEB-C3B7-70F6-CFEE098A6454}"/>
              </a:ext>
            </a:extLst>
          </p:cNvPr>
          <p:cNvSpPr/>
          <p:nvPr/>
        </p:nvSpPr>
        <p:spPr>
          <a:xfrm>
            <a:off x="358880" y="3810787"/>
            <a:ext cx="4783392" cy="684628"/>
          </a:xfrm>
          <a:prstGeom prst="roundRect">
            <a:avLst>
              <a:gd name="adj" fmla="val 16969"/>
            </a:avLst>
          </a:prstGeom>
          <a:solidFill>
            <a:schemeClr val="accent6">
              <a:lumMod val="40000"/>
              <a:lumOff val="60000"/>
            </a:schemeClr>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rgbClr val="0070C0"/>
                </a:solidFill>
                <a:latin typeface="Arial" panose="020B0604020202020204" pitchFamily="34" charset="0"/>
                <a:cs typeface="Arial" panose="020B0604020202020204" pitchFamily="34" charset="0"/>
              </a:rPr>
              <a:t>データの保存タイミング</a:t>
            </a:r>
          </a:p>
        </p:txBody>
      </p:sp>
      <p:sp>
        <p:nvSpPr>
          <p:cNvPr id="13" name="テキスト ボックス 12">
            <a:extLst>
              <a:ext uri="{FF2B5EF4-FFF2-40B4-BE49-F238E27FC236}">
                <a16:creationId xmlns:a16="http://schemas.microsoft.com/office/drawing/2014/main" id="{7EB9BDBB-9A23-FA16-C9CB-EAA57F9ABF94}"/>
              </a:ext>
            </a:extLst>
          </p:cNvPr>
          <p:cNvSpPr txBox="1"/>
          <p:nvPr/>
        </p:nvSpPr>
        <p:spPr>
          <a:xfrm>
            <a:off x="1156185" y="4788376"/>
            <a:ext cx="10529309" cy="1077218"/>
          </a:xfrm>
          <a:prstGeom prst="rect">
            <a:avLst/>
          </a:prstGeom>
          <a:noFill/>
        </p:spPr>
        <p:txBody>
          <a:bodyPr wrap="square" rtlCol="0">
            <a:spAutoFit/>
          </a:bodyPr>
          <a:lstStyle/>
          <a:p>
            <a:r>
              <a:rPr kumimoji="1" lang="ja-JP" altLang="en-US" sz="3200" b="1" dirty="0">
                <a:ln>
                  <a:solidFill>
                    <a:schemeClr val="tx2"/>
                  </a:solidFill>
                </a:ln>
                <a:solidFill>
                  <a:schemeClr val="bg2">
                    <a:lumMod val="75000"/>
                  </a:schemeClr>
                </a:solidFill>
              </a:rPr>
              <a:t>当初は問題ないと思っていた集計方法も、動作要件の</a:t>
            </a:r>
            <a:endParaRPr kumimoji="1" lang="en-US" altLang="ja-JP" sz="3200" b="1" dirty="0">
              <a:ln>
                <a:solidFill>
                  <a:schemeClr val="tx2"/>
                </a:solidFill>
              </a:ln>
              <a:solidFill>
                <a:schemeClr val="bg2">
                  <a:lumMod val="75000"/>
                </a:schemeClr>
              </a:solidFill>
            </a:endParaRPr>
          </a:p>
          <a:p>
            <a:r>
              <a:rPr kumimoji="1" lang="ja-JP" altLang="en-US" sz="3200" b="1" dirty="0">
                <a:ln>
                  <a:solidFill>
                    <a:schemeClr val="tx2"/>
                  </a:solidFill>
                </a:ln>
                <a:solidFill>
                  <a:schemeClr val="bg2">
                    <a:lumMod val="75000"/>
                  </a:schemeClr>
                </a:solidFill>
              </a:rPr>
              <a:t>整理不足により後から複数案が生じ、</a:t>
            </a:r>
            <a:r>
              <a:rPr lang="ja-JP" altLang="en-US" sz="3200" b="1" dirty="0">
                <a:ln>
                  <a:solidFill>
                    <a:schemeClr val="tx2"/>
                  </a:solidFill>
                </a:ln>
                <a:solidFill>
                  <a:schemeClr val="bg2">
                    <a:lumMod val="75000"/>
                  </a:schemeClr>
                </a:solidFill>
              </a:rPr>
              <a:t>選定に手間取った</a:t>
            </a:r>
            <a:endParaRPr kumimoji="1" lang="en-US" altLang="ja-JP" sz="3200" b="1" dirty="0">
              <a:ln>
                <a:solidFill>
                  <a:schemeClr val="tx2"/>
                </a:solidFill>
              </a:ln>
              <a:solidFill>
                <a:schemeClr val="bg2">
                  <a:lumMod val="75000"/>
                </a:schemeClr>
              </a:solidFill>
            </a:endParaRPr>
          </a:p>
        </p:txBody>
      </p:sp>
    </p:spTree>
    <p:extLst>
      <p:ext uri="{BB962C8B-B14F-4D97-AF65-F5344CB8AC3E}">
        <p14:creationId xmlns:p14="http://schemas.microsoft.com/office/powerpoint/2010/main" val="3160503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7" grpId="0" animBg="1"/>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457BA-A526-C633-1B06-D8415314E43A}"/>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3965A3B9-F29B-B437-AA13-1F95CFB06ECF}"/>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2190B33C-84A8-9137-212D-43BD26BFEB9A}"/>
              </a:ext>
            </a:extLst>
          </p:cNvPr>
          <p:cNvSpPr>
            <a:spLocks noGrp="1"/>
          </p:cNvSpPr>
          <p:nvPr>
            <p:ph type="ctrTitle"/>
          </p:nvPr>
        </p:nvSpPr>
        <p:spPr>
          <a:xfrm>
            <a:off x="3151826" y="2781357"/>
            <a:ext cx="5888348"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まとめ</a:t>
            </a:r>
          </a:p>
        </p:txBody>
      </p:sp>
    </p:spTree>
    <p:extLst>
      <p:ext uri="{BB962C8B-B14F-4D97-AF65-F5344CB8AC3E}">
        <p14:creationId xmlns:p14="http://schemas.microsoft.com/office/powerpoint/2010/main" val="3881172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E4634-CDAC-0D80-C767-0518C027C3C1}"/>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0FFEC6C1-A8E6-AD91-B2AF-B6A2C4EAFF70}"/>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D22850C4-9D3E-2902-6F88-B318FCB0D38A}"/>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まとめ</a:t>
            </a:r>
          </a:p>
        </p:txBody>
      </p:sp>
      <p:sp>
        <p:nvSpPr>
          <p:cNvPr id="3" name="テキスト ボックス 2">
            <a:extLst>
              <a:ext uri="{FF2B5EF4-FFF2-40B4-BE49-F238E27FC236}">
                <a16:creationId xmlns:a16="http://schemas.microsoft.com/office/drawing/2014/main" id="{6C9DCBAC-F345-3872-F7A6-0D0A33D4E0B6}"/>
              </a:ext>
            </a:extLst>
          </p:cNvPr>
          <p:cNvSpPr txBox="1"/>
          <p:nvPr/>
        </p:nvSpPr>
        <p:spPr>
          <a:xfrm>
            <a:off x="1199916" y="1608291"/>
            <a:ext cx="2383986" cy="707886"/>
          </a:xfrm>
          <a:prstGeom prst="rect">
            <a:avLst/>
          </a:prstGeom>
          <a:noFill/>
        </p:spPr>
        <p:txBody>
          <a:bodyPr wrap="none" rtlCol="0">
            <a:spAutoFit/>
          </a:bodyPr>
          <a:lstStyle/>
          <a:p>
            <a:r>
              <a:rPr kumimoji="1" lang="ja-JP" altLang="en-US" sz="4000" b="1" dirty="0">
                <a:solidFill>
                  <a:srgbClr val="FF0000"/>
                </a:solidFill>
                <a:latin typeface="Arial" panose="020B0604020202020204" pitchFamily="34" charset="0"/>
                <a:cs typeface="Arial" panose="020B0604020202020204" pitchFamily="34" charset="0"/>
              </a:rPr>
              <a:t>未実装 →</a:t>
            </a:r>
          </a:p>
        </p:txBody>
      </p:sp>
      <p:sp>
        <p:nvSpPr>
          <p:cNvPr id="2" name="四角形: 角を丸くする 1">
            <a:extLst>
              <a:ext uri="{FF2B5EF4-FFF2-40B4-BE49-F238E27FC236}">
                <a16:creationId xmlns:a16="http://schemas.microsoft.com/office/drawing/2014/main" id="{243FAA5A-3336-9EA8-2E33-5E43D8EBD3D3}"/>
              </a:ext>
            </a:extLst>
          </p:cNvPr>
          <p:cNvSpPr/>
          <p:nvPr/>
        </p:nvSpPr>
        <p:spPr>
          <a:xfrm>
            <a:off x="3583902" y="1608291"/>
            <a:ext cx="6997919"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ショップ機能、他のゲーム機能</a:t>
            </a:r>
          </a:p>
        </p:txBody>
      </p:sp>
      <p:sp>
        <p:nvSpPr>
          <p:cNvPr id="5" name="テキスト ボックス 4">
            <a:extLst>
              <a:ext uri="{FF2B5EF4-FFF2-40B4-BE49-F238E27FC236}">
                <a16:creationId xmlns:a16="http://schemas.microsoft.com/office/drawing/2014/main" id="{A59EE3E0-4E3A-4C00-8716-3DB4F5D7BE37}"/>
              </a:ext>
            </a:extLst>
          </p:cNvPr>
          <p:cNvSpPr txBox="1"/>
          <p:nvPr/>
        </p:nvSpPr>
        <p:spPr>
          <a:xfrm>
            <a:off x="1714479" y="4098085"/>
            <a:ext cx="1869423" cy="707886"/>
          </a:xfrm>
          <a:prstGeom prst="rect">
            <a:avLst/>
          </a:prstGeom>
          <a:noFill/>
        </p:spPr>
        <p:txBody>
          <a:bodyPr wrap="none" rtlCol="0">
            <a:spAutoFit/>
          </a:bodyPr>
          <a:lstStyle/>
          <a:p>
            <a:r>
              <a:rPr kumimoji="1" lang="ja-JP" altLang="en-US" sz="4000" b="1" dirty="0">
                <a:ln>
                  <a:solidFill>
                    <a:sysClr val="windowText" lastClr="000000"/>
                  </a:solidFill>
                </a:ln>
                <a:solidFill>
                  <a:schemeClr val="accent1">
                    <a:lumMod val="60000"/>
                    <a:lumOff val="40000"/>
                  </a:schemeClr>
                </a:solidFill>
                <a:latin typeface="Arial" panose="020B0604020202020204" pitchFamily="34" charset="0"/>
                <a:cs typeface="Arial" panose="020B0604020202020204" pitchFamily="34" charset="0"/>
              </a:rPr>
              <a:t>課題 →</a:t>
            </a:r>
          </a:p>
        </p:txBody>
      </p:sp>
      <p:sp>
        <p:nvSpPr>
          <p:cNvPr id="7" name="四角形: 角を丸くする 6">
            <a:extLst>
              <a:ext uri="{FF2B5EF4-FFF2-40B4-BE49-F238E27FC236}">
                <a16:creationId xmlns:a16="http://schemas.microsoft.com/office/drawing/2014/main" id="{9EB679AE-ED48-4C1F-B566-8B0A8C3ACEDA}"/>
              </a:ext>
            </a:extLst>
          </p:cNvPr>
          <p:cNvSpPr/>
          <p:nvPr/>
        </p:nvSpPr>
        <p:spPr>
          <a:xfrm>
            <a:off x="3583901" y="3452825"/>
            <a:ext cx="6997919" cy="1998406"/>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未実装機能制作</a:t>
            </a:r>
            <a:endParaRPr lang="en-US" altLang="ja-JP" sz="3200" dirty="0">
              <a:solidFill>
                <a:schemeClr val="bg2"/>
              </a:solidFill>
              <a:latin typeface="Arial" panose="020B0604020202020204" pitchFamily="34" charset="0"/>
              <a:cs typeface="Arial" panose="020B0604020202020204" pitchFamily="34" charset="0"/>
            </a:endParaRPr>
          </a:p>
          <a:p>
            <a:pPr algn="ctr"/>
            <a:endParaRPr lang="en-US" altLang="ja-JP" sz="3200" dirty="0">
              <a:solidFill>
                <a:schemeClr val="bg2"/>
              </a:solidFill>
              <a:latin typeface="Arial" panose="020B0604020202020204" pitchFamily="34" charset="0"/>
              <a:cs typeface="Arial" panose="020B0604020202020204" pitchFamily="34" charset="0"/>
            </a:endParaRPr>
          </a:p>
          <a:p>
            <a:pPr algn="ctr"/>
            <a:r>
              <a:rPr lang="ja-JP" altLang="en-US" sz="3200" dirty="0">
                <a:solidFill>
                  <a:schemeClr val="bg2"/>
                </a:solidFill>
                <a:latin typeface="Arial" panose="020B0604020202020204" pitchFamily="34" charset="0"/>
                <a:cs typeface="Arial" panose="020B0604020202020204" pitchFamily="34" charset="0"/>
              </a:rPr>
              <a:t>ユーザビリティを高めた設計</a:t>
            </a:r>
          </a:p>
        </p:txBody>
      </p:sp>
    </p:spTree>
    <p:extLst>
      <p:ext uri="{BB962C8B-B14F-4D97-AF65-F5344CB8AC3E}">
        <p14:creationId xmlns:p14="http://schemas.microsoft.com/office/powerpoint/2010/main" val="1816156920"/>
      </p:ext>
    </p:extLst>
  </p:cSld>
  <p:clrMapOvr>
    <a:masterClrMapping/>
  </p:clrMapOvr>
  <p:transition spd="med">
    <p:pull/>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4ADDA6-F844-6DB5-D674-17D8E715AF49}"/>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310135D4-D3A1-4556-B91B-4A12069D4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三角形を形成するように整列されたネオン レーザー光">
            <a:extLst>
              <a:ext uri="{FF2B5EF4-FFF2-40B4-BE49-F238E27FC236}">
                <a16:creationId xmlns:a16="http://schemas.microsoft.com/office/drawing/2014/main" id="{BBB310BE-B6AF-FB36-3CC7-3F4C3B96F5A4}"/>
              </a:ext>
            </a:extLst>
          </p:cNvPr>
          <p:cNvPicPr>
            <a:picLocks noChangeAspect="1"/>
          </p:cNvPicPr>
          <p:nvPr/>
        </p:nvPicPr>
        <p:blipFill>
          <a:blip r:embed="rId3"/>
          <a:srcRect t="14814" r="9091" b="3367"/>
          <a:stretch>
            <a:fillRect/>
          </a:stretch>
        </p:blipFill>
        <p:spPr>
          <a:xfrm>
            <a:off x="20" y="-1"/>
            <a:ext cx="12191980" cy="6858001"/>
          </a:xfrm>
          <a:prstGeom prst="rect">
            <a:avLst/>
          </a:prstGeom>
        </p:spPr>
      </p:pic>
      <p:sp>
        <p:nvSpPr>
          <p:cNvPr id="13" name="Rectangle 12">
            <a:extLst>
              <a:ext uri="{FF2B5EF4-FFF2-40B4-BE49-F238E27FC236}">
                <a16:creationId xmlns:a16="http://schemas.microsoft.com/office/drawing/2014/main" id="{A9CCD9CD-49AE-3D3E-923B-81ECD3FBF7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2015" y="-752015"/>
            <a:ext cx="6858000" cy="8362030"/>
          </a:xfrm>
          <a:prstGeom prst="rect">
            <a:avLst/>
          </a:prstGeom>
          <a:gradFill>
            <a:gsLst>
              <a:gs pos="0">
                <a:srgbClr val="000000">
                  <a:alpha val="0"/>
                </a:srgbClr>
              </a:gs>
              <a:gs pos="55000">
                <a:srgbClr val="000000">
                  <a:alpha val="50000"/>
                </a:srgbClr>
              </a:gs>
              <a:gs pos="100000">
                <a:srgbClr val="000000">
                  <a:alpha val="60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5">
            <a:extLst>
              <a:ext uri="{FF2B5EF4-FFF2-40B4-BE49-F238E27FC236}">
                <a16:creationId xmlns:a16="http://schemas.microsoft.com/office/drawing/2014/main" id="{265C283C-188E-FE0A-1E98-B8A8DBDE9D22}"/>
              </a:ext>
            </a:extLst>
          </p:cNvPr>
          <p:cNvSpPr>
            <a:spLocks noGrp="1"/>
          </p:cNvSpPr>
          <p:nvPr>
            <p:ph type="ctrTitle"/>
          </p:nvPr>
        </p:nvSpPr>
        <p:spPr>
          <a:xfrm>
            <a:off x="413558" y="4475480"/>
            <a:ext cx="8842202" cy="1888742"/>
          </a:xfrm>
        </p:spPr>
        <p:txBody>
          <a:bodyPr>
            <a:noAutofit/>
          </a:bodyPr>
          <a:lstStyle/>
          <a:p>
            <a:pPr algn="l"/>
            <a:r>
              <a:rPr lang="ja-JP" altLang="en-US" sz="6000" dirty="0">
                <a:ln w="9525">
                  <a:solidFill>
                    <a:schemeClr val="tx1">
                      <a:lumMod val="95000"/>
                      <a:lumOff val="5000"/>
                    </a:schemeClr>
                  </a:solidFill>
                  <a:prstDash val="solid"/>
                </a:ln>
                <a:solidFill>
                  <a:srgbClr val="FFFFFF"/>
                </a:solidFill>
                <a:effectLst>
                  <a:outerShdw blurRad="12700" dist="38100" dir="2700000" algn="tl" rotWithShape="0">
                    <a:schemeClr val="bg1">
                      <a:lumMod val="50000"/>
                    </a:schemeClr>
                  </a:outerShdw>
                </a:effectLst>
              </a:rPr>
              <a:t>ご清聴</a:t>
            </a:r>
            <a:br>
              <a:rPr lang="en-US" altLang="ja-JP" sz="6000" dirty="0">
                <a:ln w="9525">
                  <a:solidFill>
                    <a:schemeClr val="tx1">
                      <a:lumMod val="95000"/>
                      <a:lumOff val="5000"/>
                    </a:schemeClr>
                  </a:solidFill>
                  <a:prstDash val="solid"/>
                </a:ln>
                <a:solidFill>
                  <a:srgbClr val="FFFFFF"/>
                </a:solidFill>
                <a:effectLst>
                  <a:outerShdw blurRad="12700" dist="38100" dir="2700000" algn="tl" rotWithShape="0">
                    <a:schemeClr val="bg1">
                      <a:lumMod val="50000"/>
                    </a:schemeClr>
                  </a:outerShdw>
                </a:effectLst>
              </a:rPr>
            </a:br>
            <a:r>
              <a:rPr lang="ja-JP" altLang="en-US" sz="6000" dirty="0">
                <a:ln w="9525">
                  <a:solidFill>
                    <a:schemeClr val="tx1">
                      <a:lumMod val="95000"/>
                      <a:lumOff val="5000"/>
                    </a:schemeClr>
                  </a:solidFill>
                  <a:prstDash val="solid"/>
                </a:ln>
                <a:solidFill>
                  <a:srgbClr val="FFFFFF"/>
                </a:solidFill>
                <a:effectLst>
                  <a:outerShdw blurRad="12700" dist="38100" dir="2700000" algn="tl" rotWithShape="0">
                    <a:schemeClr val="bg1">
                      <a:lumMod val="50000"/>
                    </a:schemeClr>
                  </a:outerShdw>
                </a:effectLst>
              </a:rPr>
              <a:t>ありがとうございました</a:t>
            </a:r>
          </a:p>
        </p:txBody>
      </p:sp>
    </p:spTree>
    <p:extLst>
      <p:ext uri="{BB962C8B-B14F-4D97-AF65-F5344CB8AC3E}">
        <p14:creationId xmlns:p14="http://schemas.microsoft.com/office/powerpoint/2010/main" val="2345526098"/>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1111</TotalTime>
  <Words>1156</Words>
  <Application>Microsoft Office PowerPoint</Application>
  <PresentationFormat>ワイド画面</PresentationFormat>
  <Paragraphs>115</Paragraphs>
  <Slides>15</Slides>
  <Notes>15</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游ゴシック</vt:lpstr>
      <vt:lpstr>Arial</vt:lpstr>
      <vt:lpstr>Neue Haas Grotesk Text Pro</vt:lpstr>
      <vt:lpstr>VanillaVTI</vt:lpstr>
      <vt:lpstr>Scot Medal Park</vt:lpstr>
      <vt:lpstr>PowerPoint プレゼンテーション</vt:lpstr>
      <vt:lpstr>背景・目的</vt:lpstr>
      <vt:lpstr>背景・目的</vt:lpstr>
      <vt:lpstr>概要</vt:lpstr>
      <vt:lpstr>開発環境</vt:lpstr>
      <vt:lpstr>機能一覧</vt:lpstr>
      <vt:lpstr>実演</vt:lpstr>
      <vt:lpstr>苦労</vt:lpstr>
      <vt:lpstr>苦労①</vt:lpstr>
      <vt:lpstr>苦労②</vt:lpstr>
      <vt:lpstr>苦労③</vt:lpstr>
      <vt:lpstr>まとめ</vt:lpstr>
      <vt:lpstr>まとめ</vt:lpstr>
      <vt:lpstr>ご清聴 ありがとうございました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Precede</dc:creator>
  <cp:lastModifiedBy>Precede</cp:lastModifiedBy>
  <cp:revision>6</cp:revision>
  <dcterms:created xsi:type="dcterms:W3CDTF">2026-01-23T00:11:40Z</dcterms:created>
  <dcterms:modified xsi:type="dcterms:W3CDTF">2026-02-06T06:01:16Z</dcterms:modified>
</cp:coreProperties>
</file>