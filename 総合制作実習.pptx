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60" r:id="rId4"/>
    <p:sldId id="258" r:id="rId5"/>
    <p:sldId id="261" r:id="rId6"/>
    <p:sldId id="259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63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4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15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B6F2D79A-D5D4-0391-77F4-DDBC4DB907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D92A2A-0A87-8365-EE40-C9310CDD4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kumimoji="1" lang="en-US" altLang="ja-JP" sz="5800" dirty="0">
                <a:latin typeface="Arial" panose="020B0604020202020204" pitchFamily="34" charset="0"/>
                <a:cs typeface="Arial" panose="020B0604020202020204" pitchFamily="34" charset="0"/>
              </a:rPr>
              <a:t>Scot Medal Park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36B458-8B6D-5099-ADA0-5683EA0B3C59}"/>
              </a:ext>
            </a:extLst>
          </p:cNvPr>
          <p:cNvSpPr txBox="1"/>
          <p:nvPr/>
        </p:nvSpPr>
        <p:spPr>
          <a:xfrm>
            <a:off x="7482646" y="4495013"/>
            <a:ext cx="4116410" cy="13868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altLang="ja-JP" sz="2200" dirty="0">
                <a:latin typeface="Arial" panose="020B0604020202020204" pitchFamily="34" charset="0"/>
                <a:cs typeface="Arial" panose="020B0604020202020204" pitchFamily="34" charset="0"/>
              </a:rPr>
              <a:t>N242322</a:t>
            </a:r>
            <a:r>
              <a:rPr lang="ja-JP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　藁科光</a:t>
            </a:r>
            <a:endParaRPr kumimoji="1" lang="en-US" altLang="ja-JP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820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5075F-BDF1-195A-F62E-30538178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D395B9A4-DCB1-7190-7D87-F645120315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8D73BB1-F59A-5F14-B121-84E5CD277F14}"/>
              </a:ext>
            </a:extLst>
          </p:cNvPr>
          <p:cNvSpPr txBox="1"/>
          <p:nvPr/>
        </p:nvSpPr>
        <p:spPr>
          <a:xfrm>
            <a:off x="334298" y="226141"/>
            <a:ext cx="1779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目次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8A1A43B3-006C-B1CB-4416-2E0D7B4F6BC2}"/>
              </a:ext>
            </a:extLst>
          </p:cNvPr>
          <p:cNvSpPr/>
          <p:nvPr/>
        </p:nvSpPr>
        <p:spPr>
          <a:xfrm>
            <a:off x="382308" y="1375602"/>
            <a:ext cx="2675694" cy="2675694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/>
              <a:t>背景</a:t>
            </a:r>
            <a:endParaRPr kumimoji="1" lang="en-US" altLang="ja-JP" sz="4800" dirty="0"/>
          </a:p>
          <a:p>
            <a:pPr algn="ctr"/>
            <a:r>
              <a:rPr kumimoji="1" lang="ja-JP" altLang="en-US" sz="4800" dirty="0"/>
              <a:t>・</a:t>
            </a:r>
            <a:endParaRPr kumimoji="1" lang="en-US" altLang="ja-JP" sz="4800" dirty="0"/>
          </a:p>
          <a:p>
            <a:pPr algn="ctr"/>
            <a:r>
              <a:rPr kumimoji="1" lang="ja-JP" altLang="en-US" sz="4800" dirty="0"/>
              <a:t>目的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87461D44-955F-4B9E-D830-96C2A62BC92E}"/>
              </a:ext>
            </a:extLst>
          </p:cNvPr>
          <p:cNvSpPr/>
          <p:nvPr/>
        </p:nvSpPr>
        <p:spPr>
          <a:xfrm>
            <a:off x="2465172" y="3815605"/>
            <a:ext cx="2675693" cy="267569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/>
              <a:t>概要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A587D37-7A80-6136-F2F9-8785C10F0436}"/>
              </a:ext>
            </a:extLst>
          </p:cNvPr>
          <p:cNvSpPr/>
          <p:nvPr/>
        </p:nvSpPr>
        <p:spPr>
          <a:xfrm>
            <a:off x="7051137" y="3815605"/>
            <a:ext cx="2675423" cy="267542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/>
              <a:t>苦労</a:t>
            </a:r>
            <a:endParaRPr kumimoji="1" lang="en-US" altLang="ja-JP" sz="4800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3B6C7948-ABDE-71CF-7526-B52FAF6C1B56}"/>
              </a:ext>
            </a:extLst>
          </p:cNvPr>
          <p:cNvSpPr/>
          <p:nvPr/>
        </p:nvSpPr>
        <p:spPr>
          <a:xfrm>
            <a:off x="4758288" y="1337722"/>
            <a:ext cx="2675424" cy="2675424"/>
          </a:xfrm>
          <a:prstGeom prst="ellipse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/>
              <a:t>実演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DFE6A9B-DB75-8970-55E2-89E37A905BF1}"/>
              </a:ext>
            </a:extLst>
          </p:cNvPr>
          <p:cNvSpPr/>
          <p:nvPr/>
        </p:nvSpPr>
        <p:spPr>
          <a:xfrm>
            <a:off x="9134000" y="1337722"/>
            <a:ext cx="2675424" cy="26754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 dirty="0"/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163974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3432-3597-BC63-1CD1-8BFEC005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65AD57CD-91E1-F98D-0261-51D99621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4272EA45-DFBC-D88A-E47B-4F271CDC7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4106" y="2781357"/>
            <a:ext cx="6483787" cy="1295285"/>
          </a:xfrm>
        </p:spPr>
        <p:txBody>
          <a:bodyPr>
            <a:noAutofit/>
          </a:bodyPr>
          <a:lstStyle/>
          <a:p>
            <a:r>
              <a:rPr lang="ja-JP" altLang="en-US" sz="96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背景・目的</a:t>
            </a:r>
          </a:p>
        </p:txBody>
      </p:sp>
    </p:spTree>
    <p:extLst>
      <p:ext uri="{BB962C8B-B14F-4D97-AF65-F5344CB8AC3E}">
        <p14:creationId xmlns:p14="http://schemas.microsoft.com/office/powerpoint/2010/main" val="347016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7B688-4386-196C-A7EC-59DE942F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FB77BD99-12FF-03CD-3D76-CA12EE9803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7EC4918B-8D04-EC31-F32D-E75F80E44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814" y="196646"/>
            <a:ext cx="3892400" cy="931490"/>
          </a:xfrm>
        </p:spPr>
        <p:txBody>
          <a:bodyPr>
            <a:noAutofit/>
          </a:bodyPr>
          <a:lstStyle/>
          <a:p>
            <a:pPr algn="l"/>
            <a:r>
              <a:rPr lang="ja-JP" altLang="en-US" sz="5400" dirty="0">
                <a:solidFill>
                  <a:schemeClr val="bg1"/>
                </a:solidFill>
              </a:rPr>
              <a:t>背景・目的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93717B3-EFE8-93E5-5CBE-D69E436B4EA0}"/>
              </a:ext>
            </a:extLst>
          </p:cNvPr>
          <p:cNvSpPr/>
          <p:nvPr/>
        </p:nvSpPr>
        <p:spPr>
          <a:xfrm>
            <a:off x="791496" y="1787013"/>
            <a:ext cx="10609007" cy="1248696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趣味であるゲームに関係するものを作成しようと考え、</a:t>
            </a:r>
            <a:endParaRPr lang="en-US" altLang="ja-JP" sz="32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ja-JP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集めたメダルを使って交換するサイトを作成した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E8CB87-C0EB-FE01-5C5A-A7E88790D754}"/>
              </a:ext>
            </a:extLst>
          </p:cNvPr>
          <p:cNvSpPr/>
          <p:nvPr/>
        </p:nvSpPr>
        <p:spPr>
          <a:xfrm>
            <a:off x="791496" y="3822292"/>
            <a:ext cx="10609007" cy="1900082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実際の開発で使用される</a:t>
            </a:r>
            <a:r>
              <a:rPr lang="en-US" altLang="ja-JP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ja-JP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とフレームワーク技術を</a:t>
            </a:r>
            <a:endParaRPr lang="en-US" altLang="ja-JP" sz="32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ja-JP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用いることで、本実習を通して開発経験を積むことを</a:t>
            </a:r>
            <a:endParaRPr lang="en-US" altLang="ja-JP" sz="32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ja-JP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目的とする</a:t>
            </a:r>
            <a:endParaRPr lang="en-US" altLang="ja-JP" sz="32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89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3A173-2D2C-F372-F71D-35EA019C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E82E54E5-2A04-82F9-1155-E317A27495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3738FA97-DA45-EF67-DB34-59D7D41DF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1826" y="2781357"/>
            <a:ext cx="5888348" cy="1295285"/>
          </a:xfrm>
        </p:spPr>
        <p:txBody>
          <a:bodyPr>
            <a:noAutofit/>
          </a:bodyPr>
          <a:lstStyle/>
          <a:p>
            <a:r>
              <a:rPr lang="ja-JP" altLang="en-US" sz="96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概要</a:t>
            </a:r>
          </a:p>
        </p:txBody>
      </p:sp>
    </p:spTree>
    <p:extLst>
      <p:ext uri="{BB962C8B-B14F-4D97-AF65-F5344CB8AC3E}">
        <p14:creationId xmlns:p14="http://schemas.microsoft.com/office/powerpoint/2010/main" val="3368065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8E059-92BE-1516-7F20-A074C5BC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BD1A8C67-5AC4-5ADB-8509-B5BF410421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7FC4CA37-83AD-7C7E-D196-C8FB41D42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814" y="196646"/>
            <a:ext cx="3892400" cy="931490"/>
          </a:xfrm>
        </p:spPr>
        <p:txBody>
          <a:bodyPr>
            <a:noAutofit/>
          </a:bodyPr>
          <a:lstStyle/>
          <a:p>
            <a:pPr algn="l"/>
            <a:r>
              <a:rPr lang="ja-JP" altLang="en-US" sz="5400" dirty="0">
                <a:solidFill>
                  <a:schemeClr val="bg1"/>
                </a:solidFill>
              </a:rPr>
              <a:t>開発環境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FFA786DF-D1C7-B471-3C44-4FFFDA888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662485"/>
              </p:ext>
            </p:extLst>
          </p:nvPr>
        </p:nvGraphicFramePr>
        <p:xfrm>
          <a:off x="986117" y="1324772"/>
          <a:ext cx="10219766" cy="47333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0730">
                  <a:extLst>
                    <a:ext uri="{9D8B030D-6E8A-4147-A177-3AD203B41FA5}">
                      <a16:colId xmlns:a16="http://schemas.microsoft.com/office/drawing/2014/main" val="3238888070"/>
                    </a:ext>
                  </a:extLst>
                </a:gridCol>
                <a:gridCol w="6849036">
                  <a:extLst>
                    <a:ext uri="{9D8B030D-6E8A-4147-A177-3AD203B41FA5}">
                      <a16:colId xmlns:a16="http://schemas.microsoft.com/office/drawing/2014/main" val="3362673850"/>
                    </a:ext>
                  </a:extLst>
                </a:gridCol>
              </a:tblGrid>
              <a:tr h="946673">
                <a:tc>
                  <a:txBody>
                    <a:bodyPr/>
                    <a:lstStyle/>
                    <a:p>
                      <a:r>
                        <a:rPr kumimoji="1" lang="en-US" altLang="ja-JP" sz="3200" dirty="0"/>
                        <a:t>OS</a:t>
                      </a:r>
                      <a:endParaRPr kumimoji="1" lang="ja-JP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/>
                        <a:t>Windows11</a:t>
                      </a:r>
                      <a:endParaRPr kumimoji="1" lang="ja-JP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207639"/>
                  </a:ext>
                </a:extLst>
              </a:tr>
              <a:tr h="946673">
                <a:tc>
                  <a:txBody>
                    <a:bodyPr/>
                    <a:lstStyle/>
                    <a:p>
                      <a:r>
                        <a:rPr kumimoji="1" lang="ja-JP" altLang="en-US" sz="3200" dirty="0"/>
                        <a:t>プログラム言語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/>
                        <a:t>Java</a:t>
                      </a:r>
                      <a:r>
                        <a:rPr kumimoji="1" lang="ja-JP" altLang="en-US" sz="3200" dirty="0"/>
                        <a:t>、</a:t>
                      </a:r>
                      <a:r>
                        <a:rPr kumimoji="1" lang="en-US" altLang="ja-JP" sz="3200" dirty="0"/>
                        <a:t>JavaScript</a:t>
                      </a:r>
                      <a:r>
                        <a:rPr kumimoji="1" lang="ja-JP" altLang="en-US" sz="3200" dirty="0"/>
                        <a:t>、</a:t>
                      </a:r>
                      <a:r>
                        <a:rPr kumimoji="1" lang="en-US" altLang="ja-JP" sz="3200" dirty="0"/>
                        <a:t>Spring Boot</a:t>
                      </a:r>
                      <a:endParaRPr kumimoji="1" lang="ja-JP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639436"/>
                  </a:ext>
                </a:extLst>
              </a:tr>
              <a:tr h="946673">
                <a:tc>
                  <a:txBody>
                    <a:bodyPr/>
                    <a:lstStyle/>
                    <a:p>
                      <a:r>
                        <a:rPr kumimoji="1" lang="ja-JP" altLang="en-US" sz="3200" dirty="0"/>
                        <a:t>データベース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/>
                        <a:t>PostgreSQL</a:t>
                      </a:r>
                      <a:endParaRPr kumimoji="1" lang="ja-JP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787629"/>
                  </a:ext>
                </a:extLst>
              </a:tr>
              <a:tr h="946673">
                <a:tc>
                  <a:txBody>
                    <a:bodyPr/>
                    <a:lstStyle/>
                    <a:p>
                      <a:r>
                        <a:rPr kumimoji="1" lang="ja-JP" altLang="en-US" sz="3200" dirty="0"/>
                        <a:t>フロントエンド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/>
                        <a:t>HTML</a:t>
                      </a:r>
                      <a:r>
                        <a:rPr kumimoji="1" lang="ja-JP" altLang="en-US" sz="3200" dirty="0"/>
                        <a:t>、</a:t>
                      </a:r>
                      <a:r>
                        <a:rPr kumimoji="1" lang="en-US" altLang="ja-JP" sz="3200" dirty="0"/>
                        <a:t>CSS</a:t>
                      </a:r>
                      <a:endParaRPr kumimoji="1" lang="ja-JP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935876"/>
                  </a:ext>
                </a:extLst>
              </a:tr>
              <a:tr h="946673">
                <a:tc>
                  <a:txBody>
                    <a:bodyPr/>
                    <a:lstStyle/>
                    <a:p>
                      <a:r>
                        <a:rPr kumimoji="1" lang="ja-JP" altLang="en-US" sz="3200" dirty="0"/>
                        <a:t>統合開発環境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3200" dirty="0"/>
                        <a:t>Eclipse</a:t>
                      </a:r>
                      <a:r>
                        <a:rPr kumimoji="1" lang="ja-JP" altLang="en-US" sz="3200" dirty="0"/>
                        <a:t>、</a:t>
                      </a:r>
                      <a:r>
                        <a:rPr kumimoji="1" lang="en-US" altLang="ja-JP" sz="3200" dirty="0"/>
                        <a:t>Gradle</a:t>
                      </a:r>
                      <a:endParaRPr kumimoji="1" lang="ja-JP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682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35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DB5F2-4747-A426-4FC4-167AE932D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DF10CFEB-65C7-4602-862C-8BE26092F9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89C8737D-DDDA-41CA-3C64-3939282EF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814" y="196646"/>
            <a:ext cx="3892400" cy="931490"/>
          </a:xfrm>
        </p:spPr>
        <p:txBody>
          <a:bodyPr>
            <a:noAutofit/>
          </a:bodyPr>
          <a:lstStyle/>
          <a:p>
            <a:pPr algn="l"/>
            <a:r>
              <a:rPr lang="ja-JP" altLang="en-US" sz="5400" dirty="0">
                <a:solidFill>
                  <a:schemeClr val="bg1"/>
                </a:solidFill>
              </a:rPr>
              <a:t>機能一覧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BF212F4-C578-A64E-AC9B-FF7939B7A6ED}"/>
              </a:ext>
            </a:extLst>
          </p:cNvPr>
          <p:cNvSpPr/>
          <p:nvPr/>
        </p:nvSpPr>
        <p:spPr>
          <a:xfrm>
            <a:off x="6555657" y="1753592"/>
            <a:ext cx="4783392" cy="6846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・プロフィール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3A5D0FF-6860-3239-BF10-54E3D9F79F51}"/>
              </a:ext>
            </a:extLst>
          </p:cNvPr>
          <p:cNvSpPr/>
          <p:nvPr/>
        </p:nvSpPr>
        <p:spPr>
          <a:xfrm>
            <a:off x="6555657" y="3175788"/>
            <a:ext cx="4783392" cy="6846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・実績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6E97AF0-8511-C175-A127-733707AB3AA9}"/>
              </a:ext>
            </a:extLst>
          </p:cNvPr>
          <p:cNvSpPr/>
          <p:nvPr/>
        </p:nvSpPr>
        <p:spPr>
          <a:xfrm>
            <a:off x="852951" y="3175788"/>
            <a:ext cx="4783392" cy="6846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・新規登録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4AF4646-6838-65FD-C15A-22C2B49F849E}"/>
              </a:ext>
            </a:extLst>
          </p:cNvPr>
          <p:cNvSpPr/>
          <p:nvPr/>
        </p:nvSpPr>
        <p:spPr>
          <a:xfrm>
            <a:off x="852951" y="1753592"/>
            <a:ext cx="4783392" cy="6846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・ログイン</a:t>
            </a:r>
            <a:r>
              <a:rPr lang="en-US" altLang="ja-JP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ログアウト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F423F73-6BA8-E3A9-AA2D-D49969A59D4B}"/>
              </a:ext>
            </a:extLst>
          </p:cNvPr>
          <p:cNvSpPr/>
          <p:nvPr/>
        </p:nvSpPr>
        <p:spPr>
          <a:xfrm>
            <a:off x="852951" y="4597984"/>
            <a:ext cx="4783392" cy="6846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・各ゲームのプレイ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C845B99-618D-8266-ED0D-A03883607840}"/>
              </a:ext>
            </a:extLst>
          </p:cNvPr>
          <p:cNvSpPr/>
          <p:nvPr/>
        </p:nvSpPr>
        <p:spPr>
          <a:xfrm>
            <a:off x="6555657" y="4597984"/>
            <a:ext cx="4783392" cy="6846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・ランキング</a:t>
            </a:r>
          </a:p>
        </p:txBody>
      </p:sp>
    </p:spTree>
    <p:extLst>
      <p:ext uri="{BB962C8B-B14F-4D97-AF65-F5344CB8AC3E}">
        <p14:creationId xmlns:p14="http://schemas.microsoft.com/office/powerpoint/2010/main" val="3251835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01C5-6F8E-9904-65AF-915E2B5DC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FA523D36-6D1B-A232-B827-331C4E684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FEF63EC5-C4C4-48DB-CBCB-1D833FFD9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1826" y="2781357"/>
            <a:ext cx="5888348" cy="1295285"/>
          </a:xfrm>
        </p:spPr>
        <p:txBody>
          <a:bodyPr>
            <a:noAutofit/>
          </a:bodyPr>
          <a:lstStyle/>
          <a:p>
            <a:r>
              <a:rPr lang="ja-JP" altLang="en-US" sz="96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実演</a:t>
            </a:r>
          </a:p>
        </p:txBody>
      </p:sp>
    </p:spTree>
    <p:extLst>
      <p:ext uri="{BB962C8B-B14F-4D97-AF65-F5344CB8AC3E}">
        <p14:creationId xmlns:p14="http://schemas.microsoft.com/office/powerpoint/2010/main" val="18553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E939A-8040-A8F7-5EFD-1CCCEC3B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E274611E-7A2A-8736-C48A-A70817B57E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D4DFAB5B-E37E-3240-F30D-1FCB5198D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1826" y="2781357"/>
            <a:ext cx="5888348" cy="1295285"/>
          </a:xfrm>
        </p:spPr>
        <p:txBody>
          <a:bodyPr>
            <a:noAutofit/>
          </a:bodyPr>
          <a:lstStyle/>
          <a:p>
            <a:r>
              <a:rPr lang="ja-JP" altLang="en-US" sz="96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苦労</a:t>
            </a:r>
          </a:p>
        </p:txBody>
      </p:sp>
    </p:spTree>
    <p:extLst>
      <p:ext uri="{BB962C8B-B14F-4D97-AF65-F5344CB8AC3E}">
        <p14:creationId xmlns:p14="http://schemas.microsoft.com/office/powerpoint/2010/main" val="136132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4F735-3BCB-1E29-AAD2-02B117E6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CA50AA81-051E-1FBA-345D-FE9E1BB3A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7AE863BF-F213-ADC8-E3D6-9D59CE472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814" y="196646"/>
            <a:ext cx="3892400" cy="931490"/>
          </a:xfrm>
        </p:spPr>
        <p:txBody>
          <a:bodyPr>
            <a:noAutofit/>
          </a:bodyPr>
          <a:lstStyle/>
          <a:p>
            <a:pPr algn="l"/>
            <a:r>
              <a:rPr lang="ja-JP" altLang="en-US" sz="5400" dirty="0">
                <a:solidFill>
                  <a:schemeClr val="bg1"/>
                </a:solidFill>
              </a:rPr>
              <a:t>苦労①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464FC98-609B-E4EE-FF5A-2DE174B8ECA7}"/>
              </a:ext>
            </a:extLst>
          </p:cNvPr>
          <p:cNvSpPr/>
          <p:nvPr/>
        </p:nvSpPr>
        <p:spPr>
          <a:xfrm>
            <a:off x="2760408" y="320077"/>
            <a:ext cx="4783392" cy="684628"/>
          </a:xfrm>
          <a:prstGeom prst="roundRect">
            <a:avLst>
              <a:gd name="adj" fmla="val 16969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度重なるエラーの連続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DE25A06-967A-3CB9-9A5F-D9BFE449BD98}"/>
              </a:ext>
            </a:extLst>
          </p:cNvPr>
          <p:cNvSpPr/>
          <p:nvPr/>
        </p:nvSpPr>
        <p:spPr>
          <a:xfrm>
            <a:off x="3704304" y="2152854"/>
            <a:ext cx="4783392" cy="413365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エラー発生</a:t>
            </a:r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D70DDF88-9B02-FA5B-E708-ABF9B0223BF3}"/>
              </a:ext>
            </a:extLst>
          </p:cNvPr>
          <p:cNvSpPr/>
          <p:nvPr/>
        </p:nvSpPr>
        <p:spPr>
          <a:xfrm>
            <a:off x="4891548" y="2782528"/>
            <a:ext cx="2408904" cy="646471"/>
          </a:xfrm>
          <a:prstGeom prst="downArrow">
            <a:avLst>
              <a:gd name="adj1" fmla="val 49184"/>
              <a:gd name="adj2" fmla="val 5608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66ED109-9A40-F7FC-C303-8703B9BD7EF4}"/>
              </a:ext>
            </a:extLst>
          </p:cNvPr>
          <p:cNvSpPr/>
          <p:nvPr/>
        </p:nvSpPr>
        <p:spPr>
          <a:xfrm>
            <a:off x="3704304" y="3645308"/>
            <a:ext cx="4783392" cy="41336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修正完了</a:t>
            </a:r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FF3EB19D-3C79-69F8-9C6A-B305FF22D13A}"/>
              </a:ext>
            </a:extLst>
          </p:cNvPr>
          <p:cNvSpPr/>
          <p:nvPr/>
        </p:nvSpPr>
        <p:spPr>
          <a:xfrm>
            <a:off x="4891548" y="4274982"/>
            <a:ext cx="2408904" cy="646471"/>
          </a:xfrm>
          <a:prstGeom prst="downArrow">
            <a:avLst>
              <a:gd name="adj1" fmla="val 49184"/>
              <a:gd name="adj2" fmla="val 5608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06A2521-B50E-CA43-EA30-E14927DEDD2D}"/>
              </a:ext>
            </a:extLst>
          </p:cNvPr>
          <p:cNvSpPr/>
          <p:nvPr/>
        </p:nvSpPr>
        <p:spPr>
          <a:xfrm>
            <a:off x="3704304" y="5137762"/>
            <a:ext cx="4783392" cy="413365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エラー発生</a:t>
            </a:r>
          </a:p>
        </p:txBody>
      </p:sp>
    </p:spTree>
    <p:extLst>
      <p:ext uri="{BB962C8B-B14F-4D97-AF65-F5344CB8AC3E}">
        <p14:creationId xmlns:p14="http://schemas.microsoft.com/office/powerpoint/2010/main" val="637228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86E8B-CDA7-1CD2-7773-47194ED8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2171BA29-917E-CA0B-1EE7-A0C4B7F4F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FCB15360-26AE-F7D3-9567-1334538DF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814" y="196646"/>
            <a:ext cx="3892400" cy="931490"/>
          </a:xfrm>
        </p:spPr>
        <p:txBody>
          <a:bodyPr>
            <a:noAutofit/>
          </a:bodyPr>
          <a:lstStyle/>
          <a:p>
            <a:pPr algn="l"/>
            <a:r>
              <a:rPr lang="ja-JP" altLang="en-US" sz="5400" dirty="0">
                <a:solidFill>
                  <a:schemeClr val="bg1"/>
                </a:solidFill>
              </a:rPr>
              <a:t>苦労②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EE10A92-C72D-684E-373E-0387CDDA6811}"/>
              </a:ext>
            </a:extLst>
          </p:cNvPr>
          <p:cNvSpPr/>
          <p:nvPr/>
        </p:nvSpPr>
        <p:spPr>
          <a:xfrm>
            <a:off x="2743693" y="320077"/>
            <a:ext cx="4783392" cy="684628"/>
          </a:xfrm>
          <a:prstGeom prst="roundRect">
            <a:avLst>
              <a:gd name="adj" fmla="val 16969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こまめなセーブ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E9AF4D4F-9D57-1FF0-A9D9-088D6E4E161C}"/>
              </a:ext>
            </a:extLst>
          </p:cNvPr>
          <p:cNvGrpSpPr/>
          <p:nvPr/>
        </p:nvGrpSpPr>
        <p:grpSpPr>
          <a:xfrm>
            <a:off x="1347493" y="1755809"/>
            <a:ext cx="3297778" cy="3144792"/>
            <a:chOff x="806814" y="2724392"/>
            <a:chExt cx="3297778" cy="3144792"/>
          </a:xfrm>
        </p:grpSpPr>
        <p:pic>
          <p:nvPicPr>
            <p:cNvPr id="3" name="図 2" descr="座る, テーブル, 小さい, クマ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04BB15DF-34BE-CE69-FFD0-5C72326E9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08230" y="2724392"/>
              <a:ext cx="2189568" cy="2030824"/>
            </a:xfrm>
            <a:prstGeom prst="rect">
              <a:avLst/>
            </a:prstGeom>
          </p:spPr>
        </p:pic>
        <p:pic>
          <p:nvPicPr>
            <p:cNvPr id="14" name="図 13" descr="座る, テーブル, 小さい, クマ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5E921DFA-5CB4-70F7-C519-42B97AF7C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915024" y="3575732"/>
              <a:ext cx="2189568" cy="2030824"/>
            </a:xfrm>
            <a:prstGeom prst="rect">
              <a:avLst/>
            </a:prstGeom>
          </p:spPr>
        </p:pic>
        <p:pic>
          <p:nvPicPr>
            <p:cNvPr id="15" name="図 14" descr="座る, テーブル, 小さい, クマ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CBEDF120-97D9-406F-53CD-6D5DBE211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06814" y="3838360"/>
              <a:ext cx="2189568" cy="2030824"/>
            </a:xfrm>
            <a:prstGeom prst="rect">
              <a:avLst/>
            </a:prstGeom>
          </p:spPr>
        </p:pic>
      </p:grpSp>
      <p:pic>
        <p:nvPicPr>
          <p:cNvPr id="18" name="図 17" descr="ゲームのキャラクター&#10;&#10;AI 生成コンテンツは誤りを含む可能性があります。">
            <a:extLst>
              <a:ext uri="{FF2B5EF4-FFF2-40B4-BE49-F238E27FC236}">
                <a16:creationId xmlns:a16="http://schemas.microsoft.com/office/drawing/2014/main" id="{7D40A9A5-B039-6A4A-04B0-2AE4AAF97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870" y="1878523"/>
            <a:ext cx="1900078" cy="2759450"/>
          </a:xfrm>
          <a:prstGeom prst="rect">
            <a:avLst/>
          </a:prstGeom>
        </p:spPr>
      </p:pic>
      <p:sp>
        <p:nvSpPr>
          <p:cNvPr id="19" name="矢印: 右 18">
            <a:extLst>
              <a:ext uri="{FF2B5EF4-FFF2-40B4-BE49-F238E27FC236}">
                <a16:creationId xmlns:a16="http://schemas.microsoft.com/office/drawing/2014/main" id="{D7ADE816-BB9F-8128-119B-8A2FB762961F}"/>
              </a:ext>
            </a:extLst>
          </p:cNvPr>
          <p:cNvSpPr/>
          <p:nvPr/>
        </p:nvSpPr>
        <p:spPr>
          <a:xfrm>
            <a:off x="5112489" y="2825590"/>
            <a:ext cx="1967021" cy="796971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乗算記号 19">
            <a:extLst>
              <a:ext uri="{FF2B5EF4-FFF2-40B4-BE49-F238E27FC236}">
                <a16:creationId xmlns:a16="http://schemas.microsoft.com/office/drawing/2014/main" id="{9E46D2B1-9455-453B-85D9-2470FBC40CED}"/>
              </a:ext>
            </a:extLst>
          </p:cNvPr>
          <p:cNvSpPr/>
          <p:nvPr/>
        </p:nvSpPr>
        <p:spPr>
          <a:xfrm>
            <a:off x="7178873" y="1755809"/>
            <a:ext cx="3542071" cy="3542071"/>
          </a:xfrm>
          <a:prstGeom prst="mathMultiply">
            <a:avLst>
              <a:gd name="adj1" fmla="val 4023"/>
            </a:avLst>
          </a:prstGeom>
          <a:solidFill>
            <a:srgbClr val="F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301BF1B-B8CD-3D96-495E-7CB765584B6C}"/>
              </a:ext>
            </a:extLst>
          </p:cNvPr>
          <p:cNvSpPr/>
          <p:nvPr/>
        </p:nvSpPr>
        <p:spPr>
          <a:xfrm>
            <a:off x="1145457" y="5405672"/>
            <a:ext cx="9901083" cy="684628"/>
          </a:xfrm>
          <a:prstGeom prst="roundRect">
            <a:avLst>
              <a:gd name="adj" fmla="val 16969"/>
            </a:avLst>
          </a:prstGeom>
          <a:solidFill>
            <a:srgbClr val="FFFF66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どの作業で起きたエラーなのか分かりずらい！！</a:t>
            </a:r>
          </a:p>
        </p:txBody>
      </p:sp>
    </p:spTree>
    <p:extLst>
      <p:ext uri="{BB962C8B-B14F-4D97-AF65-F5344CB8AC3E}">
        <p14:creationId xmlns:p14="http://schemas.microsoft.com/office/powerpoint/2010/main" val="79230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150F8-FAC9-91B1-EF39-C4C973035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C359D399-31B7-CE7A-F9BD-022DEA3C07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5945925F-68B0-B224-2E87-D0357F1FC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814" y="196646"/>
            <a:ext cx="3892400" cy="931490"/>
          </a:xfrm>
        </p:spPr>
        <p:txBody>
          <a:bodyPr>
            <a:noAutofit/>
          </a:bodyPr>
          <a:lstStyle/>
          <a:p>
            <a:pPr algn="l"/>
            <a:r>
              <a:rPr lang="ja-JP" altLang="en-US" sz="5400" dirty="0">
                <a:solidFill>
                  <a:schemeClr val="bg1"/>
                </a:solidFill>
              </a:rPr>
              <a:t>苦労③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14AAC7D-818C-15B0-B495-E49A6F455941}"/>
              </a:ext>
            </a:extLst>
          </p:cNvPr>
          <p:cNvSpPr/>
          <p:nvPr/>
        </p:nvSpPr>
        <p:spPr>
          <a:xfrm>
            <a:off x="2750576" y="320077"/>
            <a:ext cx="4783392" cy="684628"/>
          </a:xfrm>
          <a:prstGeom prst="roundRect">
            <a:avLst>
              <a:gd name="adj" fmla="val 16969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設計の見通しの甘さ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8422FA1-5C69-B09B-5732-C0E8915A39D1}"/>
              </a:ext>
            </a:extLst>
          </p:cNvPr>
          <p:cNvSpPr/>
          <p:nvPr/>
        </p:nvSpPr>
        <p:spPr>
          <a:xfrm>
            <a:off x="358880" y="1448203"/>
            <a:ext cx="4783392" cy="684628"/>
          </a:xfrm>
          <a:prstGeom prst="roundRect">
            <a:avLst>
              <a:gd name="adj" fmla="val 16969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詳細な処理の設計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8F9572-8DFD-D3ED-62B8-BB3D39C2F18B}"/>
              </a:ext>
            </a:extLst>
          </p:cNvPr>
          <p:cNvSpPr txBox="1"/>
          <p:nvPr/>
        </p:nvSpPr>
        <p:spPr>
          <a:xfrm>
            <a:off x="1156186" y="2508604"/>
            <a:ext cx="84046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n>
                  <a:solidFill>
                    <a:schemeClr val="tx2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開発途中で追加すべき処理が次々に判明し、調整に手間取る</a:t>
            </a:r>
            <a:endParaRPr kumimoji="1" lang="en-US" altLang="ja-JP" sz="3200" b="1" dirty="0">
              <a:ln>
                <a:solidFill>
                  <a:schemeClr val="tx2"/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5CF64C1-AFEB-C3B7-70F6-CFEE098A6454}"/>
              </a:ext>
            </a:extLst>
          </p:cNvPr>
          <p:cNvSpPr/>
          <p:nvPr/>
        </p:nvSpPr>
        <p:spPr>
          <a:xfrm>
            <a:off x="358880" y="3810787"/>
            <a:ext cx="4783392" cy="684628"/>
          </a:xfrm>
          <a:prstGeom prst="roundRect">
            <a:avLst>
              <a:gd name="adj" fmla="val 16969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データの保存タイミング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EB9BDBB-9A23-FA16-C9CB-EAA57F9ABF94}"/>
              </a:ext>
            </a:extLst>
          </p:cNvPr>
          <p:cNvSpPr txBox="1"/>
          <p:nvPr/>
        </p:nvSpPr>
        <p:spPr>
          <a:xfrm>
            <a:off x="1156185" y="4788376"/>
            <a:ext cx="10529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n>
                  <a:solidFill>
                    <a:schemeClr val="tx2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当初は問題ないと思っていた集計方法も、動作要件の</a:t>
            </a:r>
            <a:endParaRPr kumimoji="1" lang="en-US" altLang="ja-JP" sz="3200" b="1" dirty="0">
              <a:ln>
                <a:solidFill>
                  <a:schemeClr val="tx2"/>
                </a:solidFill>
              </a:ln>
              <a:solidFill>
                <a:schemeClr val="bg2">
                  <a:lumMod val="75000"/>
                </a:schemeClr>
              </a:solidFill>
            </a:endParaRPr>
          </a:p>
          <a:p>
            <a:r>
              <a:rPr kumimoji="1" lang="ja-JP" altLang="en-US" sz="3200" b="1" dirty="0">
                <a:ln>
                  <a:solidFill>
                    <a:schemeClr val="tx2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整理不足により後から複数案が生じ、</a:t>
            </a:r>
            <a:r>
              <a:rPr lang="ja-JP" altLang="en-US" sz="3200" b="1" dirty="0">
                <a:ln>
                  <a:solidFill>
                    <a:schemeClr val="tx2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選定に手間取った</a:t>
            </a:r>
            <a:endParaRPr kumimoji="1" lang="en-US" altLang="ja-JP" sz="3200" b="1" dirty="0">
              <a:ln>
                <a:solidFill>
                  <a:schemeClr val="tx2"/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503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457BA-A526-C633-1B06-D8415314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3965A3B9-F29B-B437-AA13-1F95CFB06E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2190B33C-84A8-9137-212D-43BD26BFE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1826" y="2781357"/>
            <a:ext cx="5888348" cy="1295285"/>
          </a:xfrm>
        </p:spPr>
        <p:txBody>
          <a:bodyPr>
            <a:noAutofit/>
          </a:bodyPr>
          <a:lstStyle/>
          <a:p>
            <a:r>
              <a:rPr lang="ja-JP" altLang="en-US" sz="9600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388117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4634-CDAC-0D80-C767-0518C027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三角形を形成するように整列されたネオン レーザー光">
            <a:extLst>
              <a:ext uri="{FF2B5EF4-FFF2-40B4-BE49-F238E27FC236}">
                <a16:creationId xmlns:a16="http://schemas.microsoft.com/office/drawing/2014/main" id="{0FFEC6C1-A8E6-AD91-B2AF-B6A2C4EAF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2399" b="57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D22850C4-9D3E-2902-6F88-B318FCB0D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814" y="196646"/>
            <a:ext cx="3892400" cy="931490"/>
          </a:xfrm>
        </p:spPr>
        <p:txBody>
          <a:bodyPr>
            <a:noAutofit/>
          </a:bodyPr>
          <a:lstStyle/>
          <a:p>
            <a:pPr algn="l"/>
            <a:r>
              <a:rPr lang="ja-JP" altLang="en-US" sz="5400" dirty="0">
                <a:solidFill>
                  <a:schemeClr val="bg1"/>
                </a:solidFill>
              </a:rPr>
              <a:t>まとめ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9DCBAC-F345-3872-F7A6-0D0A33D4E0B6}"/>
              </a:ext>
            </a:extLst>
          </p:cNvPr>
          <p:cNvSpPr txBox="1"/>
          <p:nvPr/>
        </p:nvSpPr>
        <p:spPr>
          <a:xfrm>
            <a:off x="2213811" y="163629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ショップ機能、未実装</a:t>
            </a:r>
          </a:p>
        </p:txBody>
      </p:sp>
    </p:spTree>
    <p:extLst>
      <p:ext uri="{BB962C8B-B14F-4D97-AF65-F5344CB8AC3E}">
        <p14:creationId xmlns:p14="http://schemas.microsoft.com/office/powerpoint/2010/main" val="181615692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209</Words>
  <Application>Microsoft Office PowerPoint</Application>
  <PresentationFormat>ワイド画面</PresentationFormat>
  <Paragraphs>56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Arial</vt:lpstr>
      <vt:lpstr>Neue Haas Grotesk Text Pro</vt:lpstr>
      <vt:lpstr>VanillaVTI</vt:lpstr>
      <vt:lpstr>Scot Medal Park</vt:lpstr>
      <vt:lpstr>PowerPoint プレゼンテーション</vt:lpstr>
      <vt:lpstr>背景・目的</vt:lpstr>
      <vt:lpstr>背景・目的</vt:lpstr>
      <vt:lpstr>概要</vt:lpstr>
      <vt:lpstr>開発環境</vt:lpstr>
      <vt:lpstr>機能一覧</vt:lpstr>
      <vt:lpstr>実演</vt:lpstr>
      <vt:lpstr>苦労</vt:lpstr>
      <vt:lpstr>苦労①</vt:lpstr>
      <vt:lpstr>苦労②</vt:lpstr>
      <vt:lpstr>苦労③</vt:lpstr>
      <vt:lpstr>まとめ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Precede</dc:creator>
  <cp:lastModifiedBy>joho1_22</cp:lastModifiedBy>
  <cp:revision>3</cp:revision>
  <dcterms:created xsi:type="dcterms:W3CDTF">2026-01-23T00:11:40Z</dcterms:created>
  <dcterms:modified xsi:type="dcterms:W3CDTF">2026-02-03T01:19:11Z</dcterms:modified>
</cp:coreProperties>
</file>