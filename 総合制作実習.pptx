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1" r:id="rId1"/>
  </p:sldMasterIdLst>
  <p:sldIdLst>
    <p:sldId id="256" r:id="rId2"/>
    <p:sldId id="257" r:id="rId3"/>
    <p:sldId id="260" r:id="rId4"/>
    <p:sldId id="258" r:id="rId5"/>
    <p:sldId id="261" r:id="rId6"/>
    <p:sldId id="259" r:id="rId7"/>
    <p:sldId id="262" r:id="rId8"/>
    <p:sldId id="264" r:id="rId9"/>
    <p:sldId id="265" r:id="rId10"/>
    <p:sldId id="266" r:id="rId11"/>
    <p:sldId id="267" r:id="rId12"/>
    <p:sldId id="268" r:id="rId13"/>
    <p:sldId id="263" r:id="rId1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66"/>
    <a:srgbClr val="FE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249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1153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6E448DB1-4196-18A6-15DA-C72635C1B1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 descr="三角形を形成するように整列されたネオン レーザー光">
            <a:extLst>
              <a:ext uri="{FF2B5EF4-FFF2-40B4-BE49-F238E27FC236}">
                <a16:creationId xmlns:a16="http://schemas.microsoft.com/office/drawing/2014/main" id="{B6F2D79A-D5D4-0391-77F4-DDBC4DB9077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1" t="12399" b="57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DF15DF8A-891A-1965-E372-1BA1F3B945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507179" y="173179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3000"/>
                </a:schemeClr>
              </a:gs>
              <a:gs pos="26000">
                <a:schemeClr val="bg1">
                  <a:alpha val="20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32D92A2A-0A87-8365-EE40-C9310CDD44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73219" y="898373"/>
            <a:ext cx="4470544" cy="347472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kumimoji="1" lang="en-US" altLang="ja-JP" sz="5800" dirty="0">
                <a:latin typeface="Arial" panose="020B0604020202020204" pitchFamily="34" charset="0"/>
                <a:cs typeface="Arial" panose="020B0604020202020204" pitchFamily="34" charset="0"/>
              </a:rPr>
              <a:t>Scot Medal Park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236B458-8B6D-5099-ADA0-5683EA0B3C59}"/>
              </a:ext>
            </a:extLst>
          </p:cNvPr>
          <p:cNvSpPr txBox="1"/>
          <p:nvPr/>
        </p:nvSpPr>
        <p:spPr>
          <a:xfrm>
            <a:off x="7482646" y="4495013"/>
            <a:ext cx="4116410" cy="13868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20000"/>
              </a:lnSpc>
              <a:spcBef>
                <a:spcPts val="1000"/>
              </a:spcBef>
            </a:pPr>
            <a:r>
              <a:rPr lang="en-US" altLang="ja-JP" sz="2200" dirty="0">
                <a:latin typeface="Arial" panose="020B0604020202020204" pitchFamily="34" charset="0"/>
                <a:cs typeface="Arial" panose="020B0604020202020204" pitchFamily="34" charset="0"/>
              </a:rPr>
              <a:t>N242322</a:t>
            </a:r>
            <a:r>
              <a:rPr lang="ja-JP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　藁科光</a:t>
            </a:r>
            <a:endParaRPr kumimoji="1" lang="en-US" altLang="ja-JP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82088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8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5075F-BDF1-195A-F62E-305381787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三角形を形成するように整列されたネオン レーザー光">
            <a:extLst>
              <a:ext uri="{FF2B5EF4-FFF2-40B4-BE49-F238E27FC236}">
                <a16:creationId xmlns:a16="http://schemas.microsoft.com/office/drawing/2014/main" id="{D395B9A4-DCB1-7190-7D87-F6451203158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1" t="12399" b="57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8D73BB1-F59A-5F14-B121-84E5CD277F14}"/>
              </a:ext>
            </a:extLst>
          </p:cNvPr>
          <p:cNvSpPr txBox="1"/>
          <p:nvPr/>
        </p:nvSpPr>
        <p:spPr>
          <a:xfrm>
            <a:off x="334298" y="226141"/>
            <a:ext cx="17796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5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目次</a:t>
            </a:r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8A1A43B3-006C-B1CB-4416-2E0D7B4F6BC2}"/>
              </a:ext>
            </a:extLst>
          </p:cNvPr>
          <p:cNvSpPr/>
          <p:nvPr/>
        </p:nvSpPr>
        <p:spPr>
          <a:xfrm>
            <a:off x="589937" y="1506341"/>
            <a:ext cx="2202426" cy="2202426"/>
          </a:xfrm>
          <a:prstGeom prst="ellipse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200" dirty="0"/>
              <a:t>背景</a:t>
            </a:r>
            <a:endParaRPr kumimoji="1" lang="en-US" altLang="ja-JP" sz="3200" dirty="0"/>
          </a:p>
          <a:p>
            <a:pPr algn="ctr"/>
            <a:r>
              <a:rPr kumimoji="1" lang="ja-JP" altLang="en-US" sz="3200" dirty="0"/>
              <a:t>・</a:t>
            </a:r>
            <a:endParaRPr kumimoji="1" lang="en-US" altLang="ja-JP" sz="3200" dirty="0"/>
          </a:p>
          <a:p>
            <a:pPr algn="ctr"/>
            <a:r>
              <a:rPr kumimoji="1" lang="ja-JP" altLang="en-US" sz="3200" dirty="0"/>
              <a:t>目的</a:t>
            </a:r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87461D44-955F-4B9E-D830-96C2A62BC92E}"/>
              </a:ext>
            </a:extLst>
          </p:cNvPr>
          <p:cNvSpPr/>
          <p:nvPr/>
        </p:nvSpPr>
        <p:spPr>
          <a:xfrm>
            <a:off x="2792363" y="3895580"/>
            <a:ext cx="2202426" cy="220242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200" dirty="0"/>
              <a:t>概要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9A587D37-7A80-6136-F2F9-8785C10F0436}"/>
              </a:ext>
            </a:extLst>
          </p:cNvPr>
          <p:cNvSpPr/>
          <p:nvPr/>
        </p:nvSpPr>
        <p:spPr>
          <a:xfrm>
            <a:off x="7197213" y="3895580"/>
            <a:ext cx="2202426" cy="2202426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200" dirty="0"/>
              <a:t>苦労</a:t>
            </a:r>
            <a:endParaRPr kumimoji="1" lang="en-US" altLang="ja-JP" sz="3200" dirty="0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3B6C7948-ABDE-71CF-7526-B52FAF6C1B56}"/>
              </a:ext>
            </a:extLst>
          </p:cNvPr>
          <p:cNvSpPr/>
          <p:nvPr/>
        </p:nvSpPr>
        <p:spPr>
          <a:xfrm>
            <a:off x="4994787" y="1506341"/>
            <a:ext cx="2202426" cy="2202426"/>
          </a:xfrm>
          <a:prstGeom prst="ellipse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200" dirty="0"/>
              <a:t>実演</a:t>
            </a:r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0DFE6A9B-DB75-8970-55E2-89E37A905BF1}"/>
              </a:ext>
            </a:extLst>
          </p:cNvPr>
          <p:cNvSpPr/>
          <p:nvPr/>
        </p:nvSpPr>
        <p:spPr>
          <a:xfrm>
            <a:off x="9399637" y="1506341"/>
            <a:ext cx="2202426" cy="2202426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200" dirty="0"/>
              <a:t>まとめ</a:t>
            </a:r>
          </a:p>
        </p:txBody>
      </p:sp>
    </p:spTree>
    <p:extLst>
      <p:ext uri="{BB962C8B-B14F-4D97-AF65-F5344CB8AC3E}">
        <p14:creationId xmlns:p14="http://schemas.microsoft.com/office/powerpoint/2010/main" val="1639741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43432-3597-BC63-1CD1-8BFEC005D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三角形を形成するように整列されたネオン レーザー光">
            <a:extLst>
              <a:ext uri="{FF2B5EF4-FFF2-40B4-BE49-F238E27FC236}">
                <a16:creationId xmlns:a16="http://schemas.microsoft.com/office/drawing/2014/main" id="{65AD57CD-91E1-F98D-0261-51D99621BC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1" t="12399" b="57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6" name="タイトル 5">
            <a:extLst>
              <a:ext uri="{FF2B5EF4-FFF2-40B4-BE49-F238E27FC236}">
                <a16:creationId xmlns:a16="http://schemas.microsoft.com/office/drawing/2014/main" id="{4272EA45-DFBC-D88A-E47B-4F271CDC72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54106" y="2781357"/>
            <a:ext cx="6483787" cy="1295285"/>
          </a:xfrm>
        </p:spPr>
        <p:txBody>
          <a:bodyPr>
            <a:noAutofit/>
          </a:bodyPr>
          <a:lstStyle/>
          <a:p>
            <a:r>
              <a:rPr lang="ja-JP" altLang="en-US" sz="9600" dirty="0">
                <a:ln w="9525">
                  <a:solidFill>
                    <a:schemeClr val="tx1">
                      <a:lumMod val="95000"/>
                      <a:lumOff val="5000"/>
                    </a:schemeClr>
                  </a:solidFill>
                  <a:prstDash val="solid"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背景・目的</a:t>
            </a:r>
          </a:p>
        </p:txBody>
      </p:sp>
    </p:spTree>
    <p:extLst>
      <p:ext uri="{BB962C8B-B14F-4D97-AF65-F5344CB8AC3E}">
        <p14:creationId xmlns:p14="http://schemas.microsoft.com/office/powerpoint/2010/main" val="34701636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7B688-4386-196C-A7EC-59DE942F6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三角形を形成するように整列されたネオン レーザー光">
            <a:extLst>
              <a:ext uri="{FF2B5EF4-FFF2-40B4-BE49-F238E27FC236}">
                <a16:creationId xmlns:a16="http://schemas.microsoft.com/office/drawing/2014/main" id="{FB77BD99-12FF-03CD-3D76-CA12EE9803E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1" t="12399" b="57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6" name="タイトル 5">
            <a:extLst>
              <a:ext uri="{FF2B5EF4-FFF2-40B4-BE49-F238E27FC236}">
                <a16:creationId xmlns:a16="http://schemas.microsoft.com/office/drawing/2014/main" id="{7EC4918B-8D04-EC31-F32D-E75F80E445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6814" y="196646"/>
            <a:ext cx="3892400" cy="931490"/>
          </a:xfrm>
        </p:spPr>
        <p:txBody>
          <a:bodyPr>
            <a:noAutofit/>
          </a:bodyPr>
          <a:lstStyle/>
          <a:p>
            <a:pPr algn="l"/>
            <a:r>
              <a:rPr lang="ja-JP" altLang="en-US" sz="5400" dirty="0">
                <a:solidFill>
                  <a:schemeClr val="bg1"/>
                </a:solidFill>
              </a:rPr>
              <a:t>背景・目的</a:t>
            </a: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D93717B3-EFE8-93E5-5CBE-D69E436B4EA0}"/>
              </a:ext>
            </a:extLst>
          </p:cNvPr>
          <p:cNvSpPr/>
          <p:nvPr/>
        </p:nvSpPr>
        <p:spPr>
          <a:xfrm>
            <a:off x="791496" y="1787013"/>
            <a:ext cx="10609007" cy="1248696"/>
          </a:xfrm>
          <a:prstGeom prst="round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3200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趣味であるゲームに関係するものを作成しようと考え、</a:t>
            </a:r>
            <a:endParaRPr lang="en-US" altLang="ja-JP" sz="3200" dirty="0">
              <a:solidFill>
                <a:schemeClr val="accent1">
                  <a:lumMod val="40000"/>
                  <a:lumOff val="6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ja-JP" altLang="en-US" sz="3200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集めたメダルを使って交換するサイトを作成した</a:t>
            </a: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FDE8CB87-C0EB-FE01-5C5A-A7E88790D754}"/>
              </a:ext>
            </a:extLst>
          </p:cNvPr>
          <p:cNvSpPr/>
          <p:nvPr/>
        </p:nvSpPr>
        <p:spPr>
          <a:xfrm>
            <a:off x="791496" y="3822292"/>
            <a:ext cx="10609007" cy="1900082"/>
          </a:xfrm>
          <a:prstGeom prst="round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3200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実際の開発で使用される</a:t>
            </a:r>
            <a:r>
              <a:rPr lang="en-US" altLang="ja-JP" sz="3200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Java</a:t>
            </a:r>
            <a:r>
              <a:rPr lang="ja-JP" altLang="en-US" sz="3200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とフレームワーク技術を</a:t>
            </a:r>
            <a:endParaRPr lang="en-US" altLang="ja-JP" sz="3200" dirty="0">
              <a:solidFill>
                <a:schemeClr val="accent1">
                  <a:lumMod val="40000"/>
                  <a:lumOff val="6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ja-JP" altLang="en-US" sz="3200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用いることで、本実習を通して開発経験を積むことを</a:t>
            </a:r>
            <a:endParaRPr lang="en-US" altLang="ja-JP" sz="3200" dirty="0">
              <a:solidFill>
                <a:schemeClr val="accent1">
                  <a:lumMod val="40000"/>
                  <a:lumOff val="6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ja-JP" altLang="en-US" sz="3200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目的とする</a:t>
            </a:r>
            <a:endParaRPr lang="en-US" altLang="ja-JP" sz="3200" dirty="0">
              <a:solidFill>
                <a:schemeClr val="accent1">
                  <a:lumMod val="40000"/>
                  <a:lumOff val="6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58963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3A173-2D2C-F372-F71D-35EA019C1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三角形を形成するように整列されたネオン レーザー光">
            <a:extLst>
              <a:ext uri="{FF2B5EF4-FFF2-40B4-BE49-F238E27FC236}">
                <a16:creationId xmlns:a16="http://schemas.microsoft.com/office/drawing/2014/main" id="{E82E54E5-2A04-82F9-1155-E317A27495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1" t="12399" b="57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6" name="タイトル 5">
            <a:extLst>
              <a:ext uri="{FF2B5EF4-FFF2-40B4-BE49-F238E27FC236}">
                <a16:creationId xmlns:a16="http://schemas.microsoft.com/office/drawing/2014/main" id="{3738FA97-DA45-EF67-DB34-59D7D41DF4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51826" y="2781357"/>
            <a:ext cx="5888348" cy="1295285"/>
          </a:xfrm>
        </p:spPr>
        <p:txBody>
          <a:bodyPr>
            <a:noAutofit/>
          </a:bodyPr>
          <a:lstStyle/>
          <a:p>
            <a:r>
              <a:rPr lang="ja-JP" altLang="en-US" sz="9600" dirty="0">
                <a:ln w="9525">
                  <a:solidFill>
                    <a:schemeClr val="tx1">
                      <a:lumMod val="95000"/>
                      <a:lumOff val="5000"/>
                    </a:schemeClr>
                  </a:solidFill>
                  <a:prstDash val="solid"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概要</a:t>
            </a:r>
          </a:p>
        </p:txBody>
      </p:sp>
    </p:spTree>
    <p:extLst>
      <p:ext uri="{BB962C8B-B14F-4D97-AF65-F5344CB8AC3E}">
        <p14:creationId xmlns:p14="http://schemas.microsoft.com/office/powerpoint/2010/main" val="33680653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8E059-92BE-1516-7F20-A074C5BC8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三角形を形成するように整列されたネオン レーザー光">
            <a:extLst>
              <a:ext uri="{FF2B5EF4-FFF2-40B4-BE49-F238E27FC236}">
                <a16:creationId xmlns:a16="http://schemas.microsoft.com/office/drawing/2014/main" id="{BD1A8C67-5AC4-5ADB-8509-B5BF410421B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1" t="12399" b="57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6" name="タイトル 5">
            <a:extLst>
              <a:ext uri="{FF2B5EF4-FFF2-40B4-BE49-F238E27FC236}">
                <a16:creationId xmlns:a16="http://schemas.microsoft.com/office/drawing/2014/main" id="{7FC4CA37-83AD-7C7E-D196-C8FB41D422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6814" y="196646"/>
            <a:ext cx="3892400" cy="931490"/>
          </a:xfrm>
        </p:spPr>
        <p:txBody>
          <a:bodyPr>
            <a:noAutofit/>
          </a:bodyPr>
          <a:lstStyle/>
          <a:p>
            <a:pPr algn="l"/>
            <a:r>
              <a:rPr lang="ja-JP" altLang="en-US" sz="5400" dirty="0">
                <a:solidFill>
                  <a:schemeClr val="bg1"/>
                </a:solidFill>
              </a:rPr>
              <a:t>開発環境</a:t>
            </a:r>
          </a:p>
        </p:txBody>
      </p:sp>
      <p:graphicFrame>
        <p:nvGraphicFramePr>
          <p:cNvPr id="2" name="表 1">
            <a:extLst>
              <a:ext uri="{FF2B5EF4-FFF2-40B4-BE49-F238E27FC236}">
                <a16:creationId xmlns:a16="http://schemas.microsoft.com/office/drawing/2014/main" id="{FFA786DF-D1C7-B471-3C44-4FFFDA8889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8822297"/>
              </p:ext>
            </p:extLst>
          </p:nvPr>
        </p:nvGraphicFramePr>
        <p:xfrm>
          <a:off x="2032000" y="2316480"/>
          <a:ext cx="8128000" cy="22250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2388880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3626738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項目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32076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46394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8787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09358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16829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41889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43516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DB5F2-4747-A426-4FC4-167AE932D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三角形を形成するように整列されたネオン レーザー光">
            <a:extLst>
              <a:ext uri="{FF2B5EF4-FFF2-40B4-BE49-F238E27FC236}">
                <a16:creationId xmlns:a16="http://schemas.microsoft.com/office/drawing/2014/main" id="{DF10CFEB-65C7-4602-862C-8BE26092F9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1" t="12399" b="57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6" name="タイトル 5">
            <a:extLst>
              <a:ext uri="{FF2B5EF4-FFF2-40B4-BE49-F238E27FC236}">
                <a16:creationId xmlns:a16="http://schemas.microsoft.com/office/drawing/2014/main" id="{89C8737D-DDDA-41CA-3C64-3939282EFC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6814" y="196646"/>
            <a:ext cx="3892400" cy="931490"/>
          </a:xfrm>
        </p:spPr>
        <p:txBody>
          <a:bodyPr>
            <a:noAutofit/>
          </a:bodyPr>
          <a:lstStyle/>
          <a:p>
            <a:pPr algn="l"/>
            <a:r>
              <a:rPr lang="ja-JP" altLang="en-US" sz="5400" dirty="0">
                <a:solidFill>
                  <a:schemeClr val="bg1"/>
                </a:solidFill>
              </a:rPr>
              <a:t>機能一覧</a:t>
            </a: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0BF212F4-C578-A64E-AC9B-FF7939B7A6ED}"/>
              </a:ext>
            </a:extLst>
          </p:cNvPr>
          <p:cNvSpPr/>
          <p:nvPr/>
        </p:nvSpPr>
        <p:spPr>
          <a:xfrm>
            <a:off x="6555657" y="1753592"/>
            <a:ext cx="4783392" cy="684628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3200" dirty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・プロフィール</a:t>
            </a: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A3A5D0FF-6860-3239-BF10-54E3D9F79F51}"/>
              </a:ext>
            </a:extLst>
          </p:cNvPr>
          <p:cNvSpPr/>
          <p:nvPr/>
        </p:nvSpPr>
        <p:spPr>
          <a:xfrm>
            <a:off x="6555657" y="3175788"/>
            <a:ext cx="4783392" cy="684628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3200" dirty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・実績</a:t>
            </a: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76E97AF0-8511-C175-A127-733707AB3AA9}"/>
              </a:ext>
            </a:extLst>
          </p:cNvPr>
          <p:cNvSpPr/>
          <p:nvPr/>
        </p:nvSpPr>
        <p:spPr>
          <a:xfrm>
            <a:off x="852951" y="3175788"/>
            <a:ext cx="4783392" cy="684628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3200" dirty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・新規登録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F4AF4646-6838-65FD-C15A-22C2B49F849E}"/>
              </a:ext>
            </a:extLst>
          </p:cNvPr>
          <p:cNvSpPr/>
          <p:nvPr/>
        </p:nvSpPr>
        <p:spPr>
          <a:xfrm>
            <a:off x="852951" y="1753592"/>
            <a:ext cx="4783392" cy="684628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3200" dirty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・ログイン</a:t>
            </a:r>
            <a:r>
              <a:rPr lang="en-US" altLang="ja-JP" sz="3200" dirty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ja-JP" altLang="en-US" sz="3200" dirty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ログアウト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F423F73-6BA8-E3A9-AA2D-D49969A59D4B}"/>
              </a:ext>
            </a:extLst>
          </p:cNvPr>
          <p:cNvSpPr/>
          <p:nvPr/>
        </p:nvSpPr>
        <p:spPr>
          <a:xfrm>
            <a:off x="852951" y="4597984"/>
            <a:ext cx="4783392" cy="684628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3200" dirty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・各ゲームのプレイ</a:t>
            </a: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6C845B99-618D-8266-ED0D-A03883607840}"/>
              </a:ext>
            </a:extLst>
          </p:cNvPr>
          <p:cNvSpPr/>
          <p:nvPr/>
        </p:nvSpPr>
        <p:spPr>
          <a:xfrm>
            <a:off x="6555657" y="4597984"/>
            <a:ext cx="4783392" cy="684628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3200" dirty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・ランキング</a:t>
            </a:r>
          </a:p>
        </p:txBody>
      </p:sp>
    </p:spTree>
    <p:extLst>
      <p:ext uri="{BB962C8B-B14F-4D97-AF65-F5344CB8AC3E}">
        <p14:creationId xmlns:p14="http://schemas.microsoft.com/office/powerpoint/2010/main" val="32518352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D01C5-6F8E-9904-65AF-915E2B5DC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三角形を形成するように整列されたネオン レーザー光">
            <a:extLst>
              <a:ext uri="{FF2B5EF4-FFF2-40B4-BE49-F238E27FC236}">
                <a16:creationId xmlns:a16="http://schemas.microsoft.com/office/drawing/2014/main" id="{FA523D36-6D1B-A232-B827-331C4E6849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1" t="12399" b="57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6" name="タイトル 5">
            <a:extLst>
              <a:ext uri="{FF2B5EF4-FFF2-40B4-BE49-F238E27FC236}">
                <a16:creationId xmlns:a16="http://schemas.microsoft.com/office/drawing/2014/main" id="{FEF63EC5-C4C4-48DB-CBCB-1D833FFD93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51826" y="2781357"/>
            <a:ext cx="5888348" cy="1295285"/>
          </a:xfrm>
        </p:spPr>
        <p:txBody>
          <a:bodyPr>
            <a:noAutofit/>
          </a:bodyPr>
          <a:lstStyle/>
          <a:p>
            <a:r>
              <a:rPr lang="ja-JP" altLang="en-US" sz="9600" dirty="0">
                <a:ln w="9525">
                  <a:solidFill>
                    <a:schemeClr val="tx1">
                      <a:lumMod val="95000"/>
                      <a:lumOff val="5000"/>
                    </a:schemeClr>
                  </a:solidFill>
                  <a:prstDash val="solid"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実演</a:t>
            </a:r>
          </a:p>
        </p:txBody>
      </p:sp>
    </p:spTree>
    <p:extLst>
      <p:ext uri="{BB962C8B-B14F-4D97-AF65-F5344CB8AC3E}">
        <p14:creationId xmlns:p14="http://schemas.microsoft.com/office/powerpoint/2010/main" val="1855321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E939A-8040-A8F7-5EFD-1CCCEC3BB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三角形を形成するように整列されたネオン レーザー光">
            <a:extLst>
              <a:ext uri="{FF2B5EF4-FFF2-40B4-BE49-F238E27FC236}">
                <a16:creationId xmlns:a16="http://schemas.microsoft.com/office/drawing/2014/main" id="{E274611E-7A2A-8736-C48A-A70817B57E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1" t="12399" b="57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6" name="タイトル 5">
            <a:extLst>
              <a:ext uri="{FF2B5EF4-FFF2-40B4-BE49-F238E27FC236}">
                <a16:creationId xmlns:a16="http://schemas.microsoft.com/office/drawing/2014/main" id="{D4DFAB5B-E37E-3240-F30D-1FCB5198DB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51826" y="2781357"/>
            <a:ext cx="5888348" cy="1295285"/>
          </a:xfrm>
        </p:spPr>
        <p:txBody>
          <a:bodyPr>
            <a:noAutofit/>
          </a:bodyPr>
          <a:lstStyle/>
          <a:p>
            <a:r>
              <a:rPr lang="ja-JP" altLang="en-US" sz="9600" dirty="0">
                <a:ln w="9525">
                  <a:solidFill>
                    <a:schemeClr val="tx1">
                      <a:lumMod val="95000"/>
                      <a:lumOff val="5000"/>
                    </a:schemeClr>
                  </a:solidFill>
                  <a:prstDash val="solid"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苦労</a:t>
            </a:r>
          </a:p>
        </p:txBody>
      </p:sp>
    </p:spTree>
    <p:extLst>
      <p:ext uri="{BB962C8B-B14F-4D97-AF65-F5344CB8AC3E}">
        <p14:creationId xmlns:p14="http://schemas.microsoft.com/office/powerpoint/2010/main" val="1361326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4F735-3BCB-1E29-AAD2-02B117E62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三角形を形成するように整列されたネオン レーザー光">
            <a:extLst>
              <a:ext uri="{FF2B5EF4-FFF2-40B4-BE49-F238E27FC236}">
                <a16:creationId xmlns:a16="http://schemas.microsoft.com/office/drawing/2014/main" id="{CA50AA81-051E-1FBA-345D-FE9E1BB3AE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1" t="12399" b="57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6" name="タイトル 5">
            <a:extLst>
              <a:ext uri="{FF2B5EF4-FFF2-40B4-BE49-F238E27FC236}">
                <a16:creationId xmlns:a16="http://schemas.microsoft.com/office/drawing/2014/main" id="{7AE863BF-F213-ADC8-E3D6-9D59CE4721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6814" y="196646"/>
            <a:ext cx="3892400" cy="931490"/>
          </a:xfrm>
        </p:spPr>
        <p:txBody>
          <a:bodyPr>
            <a:noAutofit/>
          </a:bodyPr>
          <a:lstStyle/>
          <a:p>
            <a:pPr algn="l"/>
            <a:r>
              <a:rPr lang="ja-JP" altLang="en-US" sz="5400" dirty="0">
                <a:solidFill>
                  <a:schemeClr val="bg1"/>
                </a:solidFill>
              </a:rPr>
              <a:t>苦労①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464FC98-609B-E4EE-FF5A-2DE174B8ECA7}"/>
              </a:ext>
            </a:extLst>
          </p:cNvPr>
          <p:cNvSpPr/>
          <p:nvPr/>
        </p:nvSpPr>
        <p:spPr>
          <a:xfrm>
            <a:off x="2760408" y="320077"/>
            <a:ext cx="4783392" cy="684628"/>
          </a:xfrm>
          <a:prstGeom prst="roundRect">
            <a:avLst>
              <a:gd name="adj" fmla="val 16969"/>
            </a:avLst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3200" dirty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度重なるエラーの連続</a:t>
            </a: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1DE25A06-967A-3CB9-9A5F-D9BFE449BD98}"/>
              </a:ext>
            </a:extLst>
          </p:cNvPr>
          <p:cNvSpPr/>
          <p:nvPr/>
        </p:nvSpPr>
        <p:spPr>
          <a:xfrm>
            <a:off x="3704304" y="2152854"/>
            <a:ext cx="4783392" cy="413365"/>
          </a:xfrm>
          <a:prstGeom prst="roundRect">
            <a:avLst>
              <a:gd name="adj" fmla="val 0"/>
            </a:avLst>
          </a:prstGeom>
          <a:solidFill>
            <a:srgbClr val="FF0000"/>
          </a:solidFill>
          <a:ln>
            <a:solidFill>
              <a:srgbClr val="0070C0"/>
            </a:solidFill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3200" dirty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エラー発生</a:t>
            </a:r>
          </a:p>
        </p:txBody>
      </p:sp>
      <p:sp>
        <p:nvSpPr>
          <p:cNvPr id="9" name="矢印: 下 8">
            <a:extLst>
              <a:ext uri="{FF2B5EF4-FFF2-40B4-BE49-F238E27FC236}">
                <a16:creationId xmlns:a16="http://schemas.microsoft.com/office/drawing/2014/main" id="{D70DDF88-9B02-FA5B-E708-ABF9B0223BF3}"/>
              </a:ext>
            </a:extLst>
          </p:cNvPr>
          <p:cNvSpPr/>
          <p:nvPr/>
        </p:nvSpPr>
        <p:spPr>
          <a:xfrm>
            <a:off x="4891548" y="2782528"/>
            <a:ext cx="2408904" cy="646471"/>
          </a:xfrm>
          <a:prstGeom prst="downArrow">
            <a:avLst>
              <a:gd name="adj1" fmla="val 49184"/>
              <a:gd name="adj2" fmla="val 5608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366ED109-9A40-F7FC-C303-8703B9BD7EF4}"/>
              </a:ext>
            </a:extLst>
          </p:cNvPr>
          <p:cNvSpPr/>
          <p:nvPr/>
        </p:nvSpPr>
        <p:spPr>
          <a:xfrm>
            <a:off x="3704304" y="3645308"/>
            <a:ext cx="4783392" cy="413365"/>
          </a:xfrm>
          <a:prstGeom prst="roundRect">
            <a:avLst>
              <a:gd name="adj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修正完了</a:t>
            </a:r>
          </a:p>
        </p:txBody>
      </p:sp>
      <p:sp>
        <p:nvSpPr>
          <p:cNvPr id="11" name="矢印: 下 10">
            <a:extLst>
              <a:ext uri="{FF2B5EF4-FFF2-40B4-BE49-F238E27FC236}">
                <a16:creationId xmlns:a16="http://schemas.microsoft.com/office/drawing/2014/main" id="{FF3EB19D-3C79-69F8-9C6A-B305FF22D13A}"/>
              </a:ext>
            </a:extLst>
          </p:cNvPr>
          <p:cNvSpPr/>
          <p:nvPr/>
        </p:nvSpPr>
        <p:spPr>
          <a:xfrm>
            <a:off x="4891548" y="4274982"/>
            <a:ext cx="2408904" cy="646471"/>
          </a:xfrm>
          <a:prstGeom prst="downArrow">
            <a:avLst>
              <a:gd name="adj1" fmla="val 49184"/>
              <a:gd name="adj2" fmla="val 5608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06A2521-B50E-CA43-EA30-E14927DEDD2D}"/>
              </a:ext>
            </a:extLst>
          </p:cNvPr>
          <p:cNvSpPr/>
          <p:nvPr/>
        </p:nvSpPr>
        <p:spPr>
          <a:xfrm>
            <a:off x="3704304" y="5137762"/>
            <a:ext cx="4783392" cy="413365"/>
          </a:xfrm>
          <a:prstGeom prst="roundRect">
            <a:avLst>
              <a:gd name="adj" fmla="val 0"/>
            </a:avLst>
          </a:prstGeom>
          <a:solidFill>
            <a:srgbClr val="FF0000"/>
          </a:solidFill>
          <a:ln>
            <a:solidFill>
              <a:srgbClr val="0070C0"/>
            </a:solidFill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3200" dirty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エラー発生</a:t>
            </a:r>
          </a:p>
        </p:txBody>
      </p:sp>
    </p:spTree>
    <p:extLst>
      <p:ext uri="{BB962C8B-B14F-4D97-AF65-F5344CB8AC3E}">
        <p14:creationId xmlns:p14="http://schemas.microsoft.com/office/powerpoint/2010/main" val="6372287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86E8B-CDA7-1CD2-7773-47194ED88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三角形を形成するように整列されたネオン レーザー光">
            <a:extLst>
              <a:ext uri="{FF2B5EF4-FFF2-40B4-BE49-F238E27FC236}">
                <a16:creationId xmlns:a16="http://schemas.microsoft.com/office/drawing/2014/main" id="{2171BA29-917E-CA0B-1EE7-A0C4B7F4F9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1" t="12399" b="57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6" name="タイトル 5">
            <a:extLst>
              <a:ext uri="{FF2B5EF4-FFF2-40B4-BE49-F238E27FC236}">
                <a16:creationId xmlns:a16="http://schemas.microsoft.com/office/drawing/2014/main" id="{FCB15360-26AE-F7D3-9567-1334538DF7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6814" y="196646"/>
            <a:ext cx="3892400" cy="931490"/>
          </a:xfrm>
        </p:spPr>
        <p:txBody>
          <a:bodyPr>
            <a:noAutofit/>
          </a:bodyPr>
          <a:lstStyle/>
          <a:p>
            <a:pPr algn="l"/>
            <a:r>
              <a:rPr lang="ja-JP" altLang="en-US" sz="5400" dirty="0">
                <a:solidFill>
                  <a:schemeClr val="bg1"/>
                </a:solidFill>
              </a:rPr>
              <a:t>苦労②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7EE10A92-C72D-684E-373E-0387CDDA6811}"/>
              </a:ext>
            </a:extLst>
          </p:cNvPr>
          <p:cNvSpPr/>
          <p:nvPr/>
        </p:nvSpPr>
        <p:spPr>
          <a:xfrm>
            <a:off x="2743693" y="320077"/>
            <a:ext cx="4783392" cy="684628"/>
          </a:xfrm>
          <a:prstGeom prst="roundRect">
            <a:avLst>
              <a:gd name="adj" fmla="val 16969"/>
            </a:avLst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3200" dirty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こまめなセーブ</a:t>
            </a:r>
          </a:p>
        </p:txBody>
      </p: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E9AF4D4F-9D57-1FF0-A9D9-088D6E4E161C}"/>
              </a:ext>
            </a:extLst>
          </p:cNvPr>
          <p:cNvGrpSpPr/>
          <p:nvPr/>
        </p:nvGrpSpPr>
        <p:grpSpPr>
          <a:xfrm>
            <a:off x="1347493" y="1755809"/>
            <a:ext cx="3297778" cy="3144792"/>
            <a:chOff x="806814" y="2724392"/>
            <a:chExt cx="3297778" cy="3144792"/>
          </a:xfrm>
        </p:grpSpPr>
        <p:pic>
          <p:nvPicPr>
            <p:cNvPr id="3" name="図 2" descr="座る, テーブル, 小さい, クマ が含まれている画像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04BB15DF-34BE-CE69-FFD0-5C72326E9CC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1108230" y="2724392"/>
              <a:ext cx="2189568" cy="2030824"/>
            </a:xfrm>
            <a:prstGeom prst="rect">
              <a:avLst/>
            </a:prstGeom>
          </p:spPr>
        </p:pic>
        <p:pic>
          <p:nvPicPr>
            <p:cNvPr id="14" name="図 13" descr="座る, テーブル, 小さい, クマ が含まれている画像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5E921DFA-5CB4-70F7-C519-42B97AF7CAB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1915024" y="3575732"/>
              <a:ext cx="2189568" cy="2030824"/>
            </a:xfrm>
            <a:prstGeom prst="rect">
              <a:avLst/>
            </a:prstGeom>
          </p:spPr>
        </p:pic>
        <p:pic>
          <p:nvPicPr>
            <p:cNvPr id="15" name="図 14" descr="座る, テーブル, 小さい, クマ が含まれている画像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CBEDF120-97D9-406F-53CD-6D5DBE211A5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806814" y="3838360"/>
              <a:ext cx="2189568" cy="2030824"/>
            </a:xfrm>
            <a:prstGeom prst="rect">
              <a:avLst/>
            </a:prstGeom>
          </p:spPr>
        </p:pic>
      </p:grpSp>
      <p:pic>
        <p:nvPicPr>
          <p:cNvPr id="18" name="図 17" descr="ゲームのキャラクター&#10;&#10;AI 生成コンテンツは誤りを含む可能性があります。">
            <a:extLst>
              <a:ext uri="{FF2B5EF4-FFF2-40B4-BE49-F238E27FC236}">
                <a16:creationId xmlns:a16="http://schemas.microsoft.com/office/drawing/2014/main" id="{7D40A9A5-B039-6A4A-04B0-2AE4AAF97D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9870" y="1878523"/>
            <a:ext cx="1900078" cy="2759450"/>
          </a:xfrm>
          <a:prstGeom prst="rect">
            <a:avLst/>
          </a:prstGeom>
        </p:spPr>
      </p:pic>
      <p:sp>
        <p:nvSpPr>
          <p:cNvPr id="19" name="矢印: 右 18">
            <a:extLst>
              <a:ext uri="{FF2B5EF4-FFF2-40B4-BE49-F238E27FC236}">
                <a16:creationId xmlns:a16="http://schemas.microsoft.com/office/drawing/2014/main" id="{D7ADE816-BB9F-8128-119B-8A2FB762961F}"/>
              </a:ext>
            </a:extLst>
          </p:cNvPr>
          <p:cNvSpPr/>
          <p:nvPr/>
        </p:nvSpPr>
        <p:spPr>
          <a:xfrm>
            <a:off x="5112489" y="2825590"/>
            <a:ext cx="1967021" cy="796971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乗算記号 19">
            <a:extLst>
              <a:ext uri="{FF2B5EF4-FFF2-40B4-BE49-F238E27FC236}">
                <a16:creationId xmlns:a16="http://schemas.microsoft.com/office/drawing/2014/main" id="{9E46D2B1-9455-453B-85D9-2470FBC40CED}"/>
              </a:ext>
            </a:extLst>
          </p:cNvPr>
          <p:cNvSpPr/>
          <p:nvPr/>
        </p:nvSpPr>
        <p:spPr>
          <a:xfrm>
            <a:off x="7178873" y="1755809"/>
            <a:ext cx="3542071" cy="3542071"/>
          </a:xfrm>
          <a:prstGeom prst="mathMultiply">
            <a:avLst>
              <a:gd name="adj1" fmla="val 4023"/>
            </a:avLst>
          </a:prstGeom>
          <a:solidFill>
            <a:srgbClr val="FE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3301BF1B-B8CD-3D96-495E-7CB765584B6C}"/>
              </a:ext>
            </a:extLst>
          </p:cNvPr>
          <p:cNvSpPr/>
          <p:nvPr/>
        </p:nvSpPr>
        <p:spPr>
          <a:xfrm>
            <a:off x="1145457" y="5405672"/>
            <a:ext cx="9901083" cy="684628"/>
          </a:xfrm>
          <a:prstGeom prst="roundRect">
            <a:avLst>
              <a:gd name="adj" fmla="val 16969"/>
            </a:avLst>
          </a:prstGeom>
          <a:solidFill>
            <a:srgbClr val="FFFF66"/>
          </a:solidFill>
          <a:ln>
            <a:solidFill>
              <a:srgbClr val="0070C0"/>
            </a:solidFill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3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どの作業で起きたエラーなのか分かりずらい！！</a:t>
            </a:r>
          </a:p>
        </p:txBody>
      </p:sp>
    </p:spTree>
    <p:extLst>
      <p:ext uri="{BB962C8B-B14F-4D97-AF65-F5344CB8AC3E}">
        <p14:creationId xmlns:p14="http://schemas.microsoft.com/office/powerpoint/2010/main" val="7923065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150F8-FAC9-91B1-EF39-C4C973035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三角形を形成するように整列されたネオン レーザー光">
            <a:extLst>
              <a:ext uri="{FF2B5EF4-FFF2-40B4-BE49-F238E27FC236}">
                <a16:creationId xmlns:a16="http://schemas.microsoft.com/office/drawing/2014/main" id="{C359D399-31B7-CE7A-F9BD-022DEA3C07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1" t="12399" b="57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6" name="タイトル 5">
            <a:extLst>
              <a:ext uri="{FF2B5EF4-FFF2-40B4-BE49-F238E27FC236}">
                <a16:creationId xmlns:a16="http://schemas.microsoft.com/office/drawing/2014/main" id="{5945925F-68B0-B224-2E87-D0357F1FC3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6814" y="196646"/>
            <a:ext cx="3892400" cy="931490"/>
          </a:xfrm>
        </p:spPr>
        <p:txBody>
          <a:bodyPr>
            <a:noAutofit/>
          </a:bodyPr>
          <a:lstStyle/>
          <a:p>
            <a:pPr algn="l"/>
            <a:r>
              <a:rPr lang="ja-JP" altLang="en-US" sz="5400" dirty="0">
                <a:solidFill>
                  <a:schemeClr val="bg1"/>
                </a:solidFill>
              </a:rPr>
              <a:t>苦労③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B14AAC7D-818C-15B0-B495-E49A6F455941}"/>
              </a:ext>
            </a:extLst>
          </p:cNvPr>
          <p:cNvSpPr/>
          <p:nvPr/>
        </p:nvSpPr>
        <p:spPr>
          <a:xfrm>
            <a:off x="2750576" y="320077"/>
            <a:ext cx="4783392" cy="684628"/>
          </a:xfrm>
          <a:prstGeom prst="roundRect">
            <a:avLst>
              <a:gd name="adj" fmla="val 16969"/>
            </a:avLst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3200" dirty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設計の見通しの甘さ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8422FA1-5C69-B09B-5732-C0E8915A39D1}"/>
              </a:ext>
            </a:extLst>
          </p:cNvPr>
          <p:cNvSpPr/>
          <p:nvPr/>
        </p:nvSpPr>
        <p:spPr>
          <a:xfrm>
            <a:off x="358880" y="1448203"/>
            <a:ext cx="4783392" cy="684628"/>
          </a:xfrm>
          <a:prstGeom prst="roundRect">
            <a:avLst>
              <a:gd name="adj" fmla="val 16969"/>
            </a:avLst>
          </a:prstGeom>
          <a:solidFill>
            <a:schemeClr val="accent6">
              <a:lumMod val="40000"/>
              <a:lumOff val="60000"/>
            </a:schemeClr>
          </a:solidFill>
          <a:ln>
            <a:solidFill>
              <a:srgbClr val="0070C0"/>
            </a:solidFill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3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詳細な処理の設計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38F9572-8DFD-D3ED-62B8-BB3D39C2F18B}"/>
              </a:ext>
            </a:extLst>
          </p:cNvPr>
          <p:cNvSpPr txBox="1"/>
          <p:nvPr/>
        </p:nvSpPr>
        <p:spPr>
          <a:xfrm>
            <a:off x="1156186" y="2448589"/>
            <a:ext cx="98796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2800" b="1" dirty="0">
                <a:ln>
                  <a:solidFill>
                    <a:schemeClr val="tx2"/>
                  </a:solidFill>
                </a:ln>
                <a:solidFill>
                  <a:schemeClr val="bg2">
                    <a:lumMod val="50000"/>
                  </a:schemeClr>
                </a:solidFill>
              </a:rPr>
              <a:t>開発途中で追加すべき処理が次々に判明し、調整に手間取る</a:t>
            </a:r>
            <a:endParaRPr kumimoji="1" lang="en-US" altLang="ja-JP" sz="2800" b="1" dirty="0">
              <a:ln>
                <a:solidFill>
                  <a:schemeClr val="tx2"/>
                </a:solidFill>
              </a:ln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D5CF64C1-AFEB-C3B7-70F6-CFEE098A6454}"/>
              </a:ext>
            </a:extLst>
          </p:cNvPr>
          <p:cNvSpPr/>
          <p:nvPr/>
        </p:nvSpPr>
        <p:spPr>
          <a:xfrm>
            <a:off x="358880" y="3810787"/>
            <a:ext cx="4783392" cy="684628"/>
          </a:xfrm>
          <a:prstGeom prst="roundRect">
            <a:avLst>
              <a:gd name="adj" fmla="val 16969"/>
            </a:avLst>
          </a:prstGeom>
          <a:solidFill>
            <a:schemeClr val="accent6">
              <a:lumMod val="40000"/>
              <a:lumOff val="60000"/>
            </a:schemeClr>
          </a:solidFill>
          <a:ln>
            <a:solidFill>
              <a:srgbClr val="0070C0"/>
            </a:solidFill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3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データの保存タイミング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7EB9BDBB-9A23-FA16-C9CB-EAA57F9ABF94}"/>
              </a:ext>
            </a:extLst>
          </p:cNvPr>
          <p:cNvSpPr txBox="1"/>
          <p:nvPr/>
        </p:nvSpPr>
        <p:spPr>
          <a:xfrm>
            <a:off x="1156186" y="4788376"/>
            <a:ext cx="1021285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b="1" dirty="0">
                <a:ln>
                  <a:solidFill>
                    <a:schemeClr val="tx2"/>
                  </a:solidFill>
                </a:ln>
                <a:solidFill>
                  <a:schemeClr val="bg2">
                    <a:lumMod val="50000"/>
                  </a:schemeClr>
                </a:solidFill>
              </a:rPr>
              <a:t>当初は問題ないと思っていた集計方法も、動作要件の整理不足により後から複数案が生じ、</a:t>
            </a:r>
            <a:r>
              <a:rPr lang="ja-JP" altLang="en-US" sz="2800" b="1" dirty="0">
                <a:ln>
                  <a:solidFill>
                    <a:schemeClr val="tx2"/>
                  </a:solidFill>
                </a:ln>
                <a:solidFill>
                  <a:schemeClr val="bg2">
                    <a:lumMod val="50000"/>
                  </a:schemeClr>
                </a:solidFill>
              </a:rPr>
              <a:t>選定に手間取った</a:t>
            </a:r>
            <a:endParaRPr kumimoji="1" lang="en-US" altLang="ja-JP" sz="2800" b="1" dirty="0">
              <a:ln>
                <a:solidFill>
                  <a:schemeClr val="tx2"/>
                </a:solidFill>
              </a:ln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05032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E4634-CDAC-0D80-C767-0518C027C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三角形を形成するように整列されたネオン レーザー光">
            <a:extLst>
              <a:ext uri="{FF2B5EF4-FFF2-40B4-BE49-F238E27FC236}">
                <a16:creationId xmlns:a16="http://schemas.microsoft.com/office/drawing/2014/main" id="{0FFEC6C1-A8E6-AD91-B2AF-B6A2C4EAFF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1" t="12399" b="57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6" name="タイトル 5">
            <a:extLst>
              <a:ext uri="{FF2B5EF4-FFF2-40B4-BE49-F238E27FC236}">
                <a16:creationId xmlns:a16="http://schemas.microsoft.com/office/drawing/2014/main" id="{D22850C4-9D3E-2902-6F88-B318FCB0D3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6814" y="196646"/>
            <a:ext cx="3892400" cy="931490"/>
          </a:xfrm>
        </p:spPr>
        <p:txBody>
          <a:bodyPr>
            <a:noAutofit/>
          </a:bodyPr>
          <a:lstStyle/>
          <a:p>
            <a:pPr algn="l"/>
            <a:r>
              <a:rPr lang="ja-JP" altLang="en-US" sz="5400" dirty="0">
                <a:solidFill>
                  <a:schemeClr val="bg1"/>
                </a:solidFill>
              </a:rPr>
              <a:t>開発環境</a:t>
            </a:r>
          </a:p>
        </p:txBody>
      </p:sp>
      <p:graphicFrame>
        <p:nvGraphicFramePr>
          <p:cNvPr id="2" name="表 1">
            <a:extLst>
              <a:ext uri="{FF2B5EF4-FFF2-40B4-BE49-F238E27FC236}">
                <a16:creationId xmlns:a16="http://schemas.microsoft.com/office/drawing/2014/main" id="{3D552540-D103-E241-004B-5A91FEAC38C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316480"/>
          <a:ext cx="8128000" cy="22250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2388880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3626738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項目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32076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46394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8787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09358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16829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41889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16156920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422</TotalTime>
  <Words>185</Words>
  <Application>Microsoft Office PowerPoint</Application>
  <PresentationFormat>ワイド画面</PresentationFormat>
  <Paragraphs>45</Paragraphs>
  <Slides>13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6" baseType="lpstr">
      <vt:lpstr>Arial</vt:lpstr>
      <vt:lpstr>Neue Haas Grotesk Text Pro</vt:lpstr>
      <vt:lpstr>VanillaVTI</vt:lpstr>
      <vt:lpstr>Scot Medal Park</vt:lpstr>
      <vt:lpstr>PowerPoint プレゼンテーション</vt:lpstr>
      <vt:lpstr>背景・目的</vt:lpstr>
      <vt:lpstr>背景・目的</vt:lpstr>
      <vt:lpstr>概要</vt:lpstr>
      <vt:lpstr>開発環境</vt:lpstr>
      <vt:lpstr>機能一覧</vt:lpstr>
      <vt:lpstr>実演</vt:lpstr>
      <vt:lpstr>苦労</vt:lpstr>
      <vt:lpstr>苦労①</vt:lpstr>
      <vt:lpstr>苦労②</vt:lpstr>
      <vt:lpstr>苦労③</vt:lpstr>
      <vt:lpstr>開発環境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Precede</dc:creator>
  <cp:lastModifiedBy>Precede</cp:lastModifiedBy>
  <cp:revision>1</cp:revision>
  <dcterms:created xsi:type="dcterms:W3CDTF">2026-01-23T00:11:40Z</dcterms:created>
  <dcterms:modified xsi:type="dcterms:W3CDTF">2026-01-23T07:14:21Z</dcterms:modified>
</cp:coreProperties>
</file>